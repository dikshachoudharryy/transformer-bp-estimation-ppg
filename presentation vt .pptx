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593" r:id="rId1"/>
    <p:sldMasterId id="2147484622" r:id="rId2"/>
  </p:sldMasterIdLst>
  <p:notesMasterIdLst>
    <p:notesMasterId r:id="rId18"/>
  </p:notesMasterIdLst>
  <p:sldIdLst>
    <p:sldId id="269" r:id="rId3"/>
    <p:sldId id="256" r:id="rId4"/>
    <p:sldId id="257" r:id="rId5"/>
    <p:sldId id="258" r:id="rId6"/>
    <p:sldId id="259" r:id="rId7"/>
    <p:sldId id="272" r:id="rId8"/>
    <p:sldId id="260" r:id="rId9"/>
    <p:sldId id="273" r:id="rId10"/>
    <p:sldId id="271" r:id="rId11"/>
    <p:sldId id="263" r:id="rId12"/>
    <p:sldId id="270" r:id="rId13"/>
    <p:sldId id="278" r:id="rId14"/>
    <p:sldId id="279" r:id="rId15"/>
    <p:sldId id="266" r:id="rId16"/>
    <p:sldId id="265" r:id="rId17"/>
  </p:sldIdLst>
  <p:sldSz cx="12192000" cy="6858000"/>
  <p:notesSz cx="6858000" cy="12192000"/>
  <p:embeddedFontLst>
    <p:embeddedFont>
      <p:font typeface="Aptos Narrow" panose="020B0004020202020204" pitchFamily="34" charset="0"/>
      <p:regular r:id="rId19"/>
      <p:bold r:id="rId20"/>
      <p:italic r:id="rId21"/>
      <p:boldItalic r:id="rId22"/>
    </p:embeddedFont>
    <p:embeddedFont>
      <p:font typeface="Felix Titling" panose="04060505060202020A04" pitchFamily="82" charset="0"/>
      <p:regular r:id="rId23"/>
    </p:embeddedFont>
    <p:embeddedFont>
      <p:font typeface="Goudy Old Style" panose="02020502050305020303" pitchFamily="18" charset="0"/>
      <p:regular r:id="rId24"/>
      <p:bold r:id="rId25"/>
      <p:italic r:id="rId26"/>
    </p:embeddedFont>
    <p:embeddedFont>
      <p:font typeface="Palatino Linotype" panose="02040502050505030304" pitchFamily="18" charset="0"/>
      <p:regular r:id="rId27"/>
      <p:bold r:id="rId28"/>
      <p:italic r:id="rId29"/>
      <p:boldItalic r:id="rId30"/>
    </p:embeddedFont>
    <p:embeddedFont>
      <p:font typeface="Raleway" pitchFamily="2" charset="0"/>
      <p:regular r:id="rId31"/>
      <p:bold r:id="rId32"/>
      <p:italic r:id="rId33"/>
      <p:boldItalic r:id="rId34"/>
    </p:embeddedFont>
    <p:embeddedFont>
      <p:font typeface="Roboto" panose="02000000000000000000" pitchFamily="2"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69" autoAdjust="0"/>
    <p:restoredTop sz="94610"/>
  </p:normalViewPr>
  <p:slideViewPr>
    <p:cSldViewPr snapToGrid="0" snapToObjects="1">
      <p:cViewPr>
        <p:scale>
          <a:sx n="80" d="100"/>
          <a:sy n="80" d="100"/>
        </p:scale>
        <p:origin x="331" y="11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presProps" Target="presProps.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4215968670"/>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38557973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pPr algn="l" eaLnBrk="1" latinLnBrk="0" hangingPunct="1"/>
            <a:endParaRPr kumimoji="0" lang="en-US" dirty="0">
              <a:solidFill>
                <a:schemeClr val="tx2"/>
              </a:solidFill>
            </a:endParaRP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315214745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pPr algn="l" eaLnBrk="1" latinLnBrk="0" hangingPunct="1"/>
            <a:endParaRPr kumimoji="0" lang="en-US" dirty="0">
              <a:solidFill>
                <a:schemeClr val="tx2"/>
              </a:solidFill>
            </a:endParaRP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313126232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45300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237744054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85917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1125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4118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pPr algn="l" eaLnBrk="1" latinLnBrk="0" hangingPunct="1"/>
            <a:endParaRPr kumimoji="0" lang="en-US" dirty="0">
              <a:solidFill>
                <a:schemeClr val="tx2"/>
              </a:solidFill>
            </a:endParaRP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00205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pPr algn="l" eaLnBrk="1" latinLnBrk="0" hangingPunct="1"/>
            <a:endParaRPr kumimoji="0" lang="en-US" dirty="0">
              <a:solidFill>
                <a:schemeClr val="tx2"/>
              </a:solidFill>
            </a:endParaRP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366505387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pPr algn="l" eaLnBrk="1" latinLnBrk="0" hangingPunct="1"/>
            <a:endParaRPr kumimoji="0" lang="en-US" dirty="0">
              <a:solidFill>
                <a:schemeClr val="tx2"/>
              </a:solidFill>
            </a:endParaRP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69915119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pPr algn="l" eaLnBrk="1" latinLnBrk="0" hangingPunct="1"/>
            <a:endParaRPr kumimoji="0" lang="en-US" dirty="0">
              <a:solidFill>
                <a:schemeClr val="tx2"/>
              </a:solidFill>
            </a:endParaRP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300992412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pPr algn="l" eaLnBrk="1" latinLnBrk="0" hangingPunct="1"/>
            <a:endParaRPr kumimoji="0" lang="en-US" dirty="0">
              <a:solidFill>
                <a:schemeClr val="tx2"/>
              </a:solidFill>
            </a:endParaRP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194031733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pPr algn="l" eaLnBrk="1" latinLnBrk="0" hangingPunct="1"/>
            <a:endParaRPr kumimoji="0" lang="en-US" dirty="0">
              <a:solidFill>
                <a:schemeClr val="tx2"/>
              </a:solidFill>
            </a:endParaRP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277886394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pPr algn="l" eaLnBrk="1" latinLnBrk="0" hangingPunct="1"/>
            <a:endParaRPr kumimoji="0" lang="en-US" dirty="0">
              <a:solidFill>
                <a:schemeClr val="tx2"/>
              </a:solidFill>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56531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082889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62501202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954532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41592630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27824820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134520394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55705904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308757310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7301458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3862717037"/>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algn="l" eaLnBrk="1" latinLnBrk="0" hangingPunct="1"/>
            <a:endParaRPr kumimoji="0" lang="en-US" dirty="0">
              <a:solidFill>
                <a:schemeClr val="tx2"/>
              </a:solidFill>
            </a:endParaRP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spTree>
    <p:extLst>
      <p:ext uri="{BB962C8B-B14F-4D97-AF65-F5344CB8AC3E}">
        <p14:creationId xmlns:p14="http://schemas.microsoft.com/office/powerpoint/2010/main" val="210442779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4199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D1940-75B7-6338-F5A7-3CEDB9B2FA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C2F6BD-3735-466E-6AD0-22DFA37B3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8B9EA6-A774-7E08-7AFF-DAFDAE088C29}"/>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5" name="Footer Placeholder 4">
            <a:extLst>
              <a:ext uri="{FF2B5EF4-FFF2-40B4-BE49-F238E27FC236}">
                <a16:creationId xmlns:a16="http://schemas.microsoft.com/office/drawing/2014/main" id="{4F96A361-8EE2-51F9-D218-484A491027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89E725-8BA9-9E01-DF2A-E51976A94EC0}"/>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2608507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C266C-AD23-CF87-BA8D-5A35A6CA86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5CBA3C-71F3-A888-0D36-06390A969D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91E478-B0A5-95F1-3800-A0474974D856}"/>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5" name="Footer Placeholder 4">
            <a:extLst>
              <a:ext uri="{FF2B5EF4-FFF2-40B4-BE49-F238E27FC236}">
                <a16:creationId xmlns:a16="http://schemas.microsoft.com/office/drawing/2014/main" id="{2986CC02-B6EB-F9C5-FBF7-E8597EBDC3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EA8049-EA29-6018-C3A1-803EE23DA822}"/>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27673875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41216-2FFA-FB30-A512-E38A7A0149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2CB21D-6EAF-B145-1A93-372EAC8B50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12C132-D0AE-1781-8B58-A79796B562CE}"/>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5" name="Footer Placeholder 4">
            <a:extLst>
              <a:ext uri="{FF2B5EF4-FFF2-40B4-BE49-F238E27FC236}">
                <a16:creationId xmlns:a16="http://schemas.microsoft.com/office/drawing/2014/main" id="{5999A4E6-A38F-4A37-AA08-F322A5DE78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4D1013-9F1A-3B55-D1B2-565A991ABC93}"/>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3084873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B484-0ECF-0F7F-2736-35F0E3B947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660104-EB30-638C-680C-B380ED6E08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9552D4-9762-0C3F-6669-001673B985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F28398-7039-9183-DE50-6B8103576D90}"/>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6" name="Footer Placeholder 5">
            <a:extLst>
              <a:ext uri="{FF2B5EF4-FFF2-40B4-BE49-F238E27FC236}">
                <a16:creationId xmlns:a16="http://schemas.microsoft.com/office/drawing/2014/main" id="{CDF5299E-07F8-94AE-1871-F949FBBC02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963B2C-1FD1-AAC9-8262-9ACE444A054D}"/>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5800578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192E5-CBA1-81D7-6054-BDB818E4B3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0F7D01-2ADD-B524-0F5E-1E3A99206B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71B157-B9EE-B8C4-1E26-BA3D82AE47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216418-1FD4-C516-8E5B-EAD69A9469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F1EF10-6660-D293-4F11-84B77EA4F1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E28F87-CBD0-6AE1-7CA5-4D4E7D90AB86}"/>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8" name="Footer Placeholder 7">
            <a:extLst>
              <a:ext uri="{FF2B5EF4-FFF2-40B4-BE49-F238E27FC236}">
                <a16:creationId xmlns:a16="http://schemas.microsoft.com/office/drawing/2014/main" id="{ED786A00-122E-A21C-ECD2-323416BF5B5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EAA133F-EB24-B734-0E62-675EAE2D55D0}"/>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18189279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4CB51-81CD-242D-F160-056F257997F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65A6CED-4E2F-830C-6E11-83A5347C559B}"/>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4" name="Footer Placeholder 3">
            <a:extLst>
              <a:ext uri="{FF2B5EF4-FFF2-40B4-BE49-F238E27FC236}">
                <a16:creationId xmlns:a16="http://schemas.microsoft.com/office/drawing/2014/main" id="{476D911A-FAF8-FEB3-76C1-0C612A1464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9020DFB-E8DA-EC68-6A75-246C6C8FB322}"/>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4099147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C96067-30B7-7938-B2A0-58EF895DCB67}"/>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3" name="Footer Placeholder 2">
            <a:extLst>
              <a:ext uri="{FF2B5EF4-FFF2-40B4-BE49-F238E27FC236}">
                <a16:creationId xmlns:a16="http://schemas.microsoft.com/office/drawing/2014/main" id="{EF061CD0-7898-AF47-DCF5-AECFCD4130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779852-D03C-56A3-6620-BE451F6476F8}"/>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13435665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CFFB-8513-7911-FF61-3229222CA8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8CAB2A-2251-E3E4-12B0-536CDE90BF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165F6F-810A-4094-2478-2E36F10E1F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48923-EB6C-9A22-CB20-154C92942E33}"/>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6" name="Footer Placeholder 5">
            <a:extLst>
              <a:ext uri="{FF2B5EF4-FFF2-40B4-BE49-F238E27FC236}">
                <a16:creationId xmlns:a16="http://schemas.microsoft.com/office/drawing/2014/main" id="{809DD9D3-9D5E-26D1-3FF2-1176F917F3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462291-0B46-C0C0-AAB5-EAB8BC224FD8}"/>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2613237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D4C6-BAC0-74D0-43F7-5CB1151013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67D1F2-104A-DF9B-7038-BFB11ABE4B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8C1F8A-B626-5362-64FF-85F9759D65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E1252D-6B57-A5BD-8980-2E156A755810}"/>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6" name="Footer Placeholder 5">
            <a:extLst>
              <a:ext uri="{FF2B5EF4-FFF2-40B4-BE49-F238E27FC236}">
                <a16:creationId xmlns:a16="http://schemas.microsoft.com/office/drawing/2014/main" id="{E1D4A892-7C4E-ABA6-B51D-408A6B5564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028E5-7FA3-A37C-EEA4-58491C625A3E}"/>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17060540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06B9C-2E48-DD0D-8A9D-ACB7BF0411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251E6F-1DCF-9B31-35E3-FD48BA1BFC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AB3E9B-150B-3E61-1A8C-82AA85A00B84}"/>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5" name="Footer Placeholder 4">
            <a:extLst>
              <a:ext uri="{FF2B5EF4-FFF2-40B4-BE49-F238E27FC236}">
                <a16:creationId xmlns:a16="http://schemas.microsoft.com/office/drawing/2014/main" id="{46CCB843-E0BC-0AC6-9756-10C541F4A3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2732EB-54CE-DAE3-9FB3-FBC09FDB57E9}"/>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9390712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BDDA26-A6A8-A090-4082-ED0D1EF140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2B8037-1950-AC2A-BB02-BAB544DE09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09BBA9-D1F5-2BCC-BE42-CA62F9946846}"/>
              </a:ext>
            </a:extLst>
          </p:cNvPr>
          <p:cNvSpPr>
            <a:spLocks noGrp="1"/>
          </p:cNvSpPr>
          <p:nvPr>
            <p:ph type="dt" sz="half" idx="10"/>
          </p:nvPr>
        </p:nvSpPr>
        <p:spPr/>
        <p:txBody>
          <a:bodyPr/>
          <a:lstStyle/>
          <a:p>
            <a:fld id="{34EC7BCA-3131-4561-AC69-3FBD60A06CDC}" type="datetimeFigureOut">
              <a:rPr lang="en-IN" smtClean="0"/>
              <a:t>08-08-2026</a:t>
            </a:fld>
            <a:endParaRPr lang="en-IN"/>
          </a:p>
        </p:txBody>
      </p:sp>
      <p:sp>
        <p:nvSpPr>
          <p:cNvPr id="5" name="Footer Placeholder 4">
            <a:extLst>
              <a:ext uri="{FF2B5EF4-FFF2-40B4-BE49-F238E27FC236}">
                <a16:creationId xmlns:a16="http://schemas.microsoft.com/office/drawing/2014/main" id="{6E16C898-430E-00AE-B3E8-B9D59ABC5D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1A0C30-864D-A251-F314-B7A43B538EBF}"/>
              </a:ext>
            </a:extLst>
          </p:cNvPr>
          <p:cNvSpPr>
            <a:spLocks noGrp="1"/>
          </p:cNvSpPr>
          <p:nvPr>
            <p:ph type="sldNum" sz="quarter" idx="12"/>
          </p:nvPr>
        </p:nvSpPr>
        <p:spPr/>
        <p:txBody>
          <a:bodyPr/>
          <a:lstStyle/>
          <a:p>
            <a:fld id="{418A4999-F68F-4641-BA45-017F25A32955}" type="slidenum">
              <a:rPr lang="en-IN" smtClean="0"/>
              <a:t>‹#›</a:t>
            </a:fld>
            <a:endParaRPr lang="en-IN"/>
          </a:p>
        </p:txBody>
      </p:sp>
    </p:spTree>
    <p:extLst>
      <p:ext uri="{BB962C8B-B14F-4D97-AF65-F5344CB8AC3E}">
        <p14:creationId xmlns:p14="http://schemas.microsoft.com/office/powerpoint/2010/main" val="4054681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2.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5373886" cy="1116811"/>
          </a:xfrm>
          <a:prstGeom prst="rect">
            <a:avLst/>
          </a:prstGeom>
        </p:spPr>
        <p:txBody>
          <a:bodyPr vert="horz" lIns="91440" tIns="45720" rIns="91440" bIns="45720" rtlCol="0" anchor="b">
            <a:normAutofit/>
          </a:bodyPr>
          <a:lstStyle/>
          <a:p>
            <a:endParaRPr lang="en-US" dirty="0"/>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pPr algn="l" eaLnBrk="1" latinLnBrk="0" hangingPunct="1"/>
            <a:endParaRPr kumimoji="0" lang="en-US" dirty="0">
              <a:solidFill>
                <a:schemeClr val="tx2"/>
              </a:solidFill>
            </a:endParaRP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pPr algn="r" eaLnBrk="1" latinLnBrk="0" hangingPunct="1"/>
            <a:fld id="{E6F9B8CD-342D-4579-98EC-A8FD6B7370E1}" type="datetimeFigureOut">
              <a:rPr lang="en-US" smtClean="0"/>
              <a:pPr algn="r" eaLnBrk="1" latinLnBrk="0" hangingPunct="1"/>
              <a:t>8/7/2026</a:t>
            </a:fld>
            <a:endParaRPr lang="en-US" dirty="0">
              <a:solidFill>
                <a:schemeClr val="tx2"/>
              </a:solidFill>
            </a:endParaRPr>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pPr algn="ctr" eaLnBrk="1" latinLnBrk="0" hangingPunct="1"/>
            <a:fld id="{2BBB5E19-F10A-4C2F-BF6F-11C513378A2E}" type="slidenum">
              <a:rPr kumimoji="0" lang="en-US" smtClean="0"/>
              <a:pPr algn="ctr" eaLnBrk="1" latinLnBrk="0" hangingPunct="1"/>
              <a:t>‹#›</a:t>
            </a:fld>
            <a:endParaRPr kumimoji="0" lang="en-US" sz="1400" b="1" dirty="0">
              <a:solidFill>
                <a:srgbClr val="FFFFFF"/>
              </a:solidFill>
            </a:endParaRPr>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EF561FD-E291-1292-1F58-BC4B0B46B21D}"/>
              </a:ext>
            </a:extLst>
          </p:cNvPr>
          <p:cNvPicPr>
            <a:picLocks noChangeAspect="1"/>
          </p:cNvPicPr>
          <p:nvPr userDrawn="1"/>
        </p:nvPicPr>
        <p:blipFill>
          <a:blip r:embed="rId30"/>
          <a:stretch>
            <a:fillRect/>
          </a:stretch>
        </p:blipFill>
        <p:spPr>
          <a:xfrm>
            <a:off x="10884023" y="0"/>
            <a:ext cx="1307972" cy="1116811"/>
          </a:xfrm>
          <a:prstGeom prst="rect">
            <a:avLst/>
          </a:prstGeom>
        </p:spPr>
      </p:pic>
    </p:spTree>
    <p:extLst>
      <p:ext uri="{BB962C8B-B14F-4D97-AF65-F5344CB8AC3E}">
        <p14:creationId xmlns:p14="http://schemas.microsoft.com/office/powerpoint/2010/main" val="926254917"/>
      </p:ext>
    </p:extLst>
  </p:cSld>
  <p:clrMap bg1="lt1" tx1="dk1" bg2="lt2" tx2="dk2" accent1="accent1" accent2="accent2" accent3="accent3" accent4="accent4" accent5="accent5" accent6="accent6" hlink="hlink" folHlink="folHlink"/>
  <p:sldLayoutIdLst>
    <p:sldLayoutId id="2147484594" r:id="rId1"/>
    <p:sldLayoutId id="2147484595" r:id="rId2"/>
    <p:sldLayoutId id="2147484596" r:id="rId3"/>
    <p:sldLayoutId id="2147484597" r:id="rId4"/>
    <p:sldLayoutId id="2147484598" r:id="rId5"/>
    <p:sldLayoutId id="2147484599" r:id="rId6"/>
    <p:sldLayoutId id="2147484600" r:id="rId7"/>
    <p:sldLayoutId id="2147484601" r:id="rId8"/>
    <p:sldLayoutId id="2147484602" r:id="rId9"/>
    <p:sldLayoutId id="2147484603" r:id="rId10"/>
    <p:sldLayoutId id="2147484604" r:id="rId11"/>
    <p:sldLayoutId id="2147484605" r:id="rId12"/>
    <p:sldLayoutId id="2147484606" r:id="rId13"/>
    <p:sldLayoutId id="2147484607" r:id="rId14"/>
    <p:sldLayoutId id="2147484608" r:id="rId15"/>
    <p:sldLayoutId id="2147484609" r:id="rId16"/>
    <p:sldLayoutId id="2147484610" r:id="rId17"/>
    <p:sldLayoutId id="2147484611" r:id="rId18"/>
    <p:sldLayoutId id="2147484612" r:id="rId19"/>
    <p:sldLayoutId id="2147484613" r:id="rId20"/>
    <p:sldLayoutId id="2147484614" r:id="rId21"/>
    <p:sldLayoutId id="2147484615" r:id="rId22"/>
    <p:sldLayoutId id="2147484616" r:id="rId23"/>
    <p:sldLayoutId id="2147484617" r:id="rId24"/>
    <p:sldLayoutId id="2147484618" r:id="rId25"/>
    <p:sldLayoutId id="2147484619" r:id="rId26"/>
    <p:sldLayoutId id="2147484620" r:id="rId27"/>
    <p:sldLayoutId id="2147484621" r:id="rId28"/>
  </p:sldLayoutIdLst>
  <p:hf sldNum="0"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C7654F-9239-8D30-76BB-FC73E44F28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8ED673-ADB9-7821-180D-992EC27BC7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FE6E86-D2D2-ADFF-7FFA-333EE99AAB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EC7BCA-3131-4561-AC69-3FBD60A06CDC}" type="datetimeFigureOut">
              <a:rPr lang="en-IN" smtClean="0"/>
              <a:t>08-08-2026</a:t>
            </a:fld>
            <a:endParaRPr lang="en-IN"/>
          </a:p>
        </p:txBody>
      </p:sp>
      <p:sp>
        <p:nvSpPr>
          <p:cNvPr id="5" name="Footer Placeholder 4">
            <a:extLst>
              <a:ext uri="{FF2B5EF4-FFF2-40B4-BE49-F238E27FC236}">
                <a16:creationId xmlns:a16="http://schemas.microsoft.com/office/drawing/2014/main" id="{D44912BB-BB33-F27C-8139-FAB3F3482F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48D0B7E-D30B-C2B6-E29D-3AE084FEC0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8A4999-F68F-4641-BA45-017F25A32955}" type="slidenum">
              <a:rPr lang="en-IN" smtClean="0"/>
              <a:t>‹#›</a:t>
            </a:fld>
            <a:endParaRPr lang="en-IN"/>
          </a:p>
        </p:txBody>
      </p:sp>
    </p:spTree>
    <p:extLst>
      <p:ext uri="{BB962C8B-B14F-4D97-AF65-F5344CB8AC3E}">
        <p14:creationId xmlns:p14="http://schemas.microsoft.com/office/powerpoint/2010/main" val="1182677399"/>
      </p:ext>
    </p:extLst>
  </p:cSld>
  <p:clrMap bg1="lt1" tx1="dk1" bg2="lt2" tx2="dk2" accent1="accent1" accent2="accent2" accent3="accent3" accent4="accent4" accent5="accent5" accent6="accent6" hlink="hlink" folHlink="folHlink"/>
  <p:sldLayoutIdLst>
    <p:sldLayoutId id="2147484623" r:id="rId1"/>
    <p:sldLayoutId id="2147484624" r:id="rId2"/>
    <p:sldLayoutId id="2147484625" r:id="rId3"/>
    <p:sldLayoutId id="2147484626" r:id="rId4"/>
    <p:sldLayoutId id="2147484627" r:id="rId5"/>
    <p:sldLayoutId id="2147484628" r:id="rId6"/>
    <p:sldLayoutId id="2147484629" r:id="rId7"/>
    <p:sldLayoutId id="2147484630" r:id="rId8"/>
    <p:sldLayoutId id="2147484631" r:id="rId9"/>
    <p:sldLayoutId id="2147484632" r:id="rId10"/>
    <p:sldLayoutId id="21474846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28.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21038-6574-589B-832C-16876E2755C2}"/>
              </a:ext>
            </a:extLst>
          </p:cNvPr>
          <p:cNvSpPr>
            <a:spLocks noGrp="1"/>
          </p:cNvSpPr>
          <p:nvPr>
            <p:ph type="title"/>
          </p:nvPr>
        </p:nvSpPr>
        <p:spPr>
          <a:xfrm>
            <a:off x="0" y="-401933"/>
            <a:ext cx="10840720" cy="1618598"/>
          </a:xfrm>
        </p:spPr>
        <p:txBody>
          <a:bodyPr>
            <a:normAutofit/>
          </a:bodyPr>
          <a:lstStyle/>
          <a:p>
            <a:r>
              <a:rPr lang="en-US" sz="3200" b="1" i="1" dirty="0">
                <a:latin typeface="Palatino Linotype" panose="02040502050505030304" pitchFamily="18" charset="0"/>
              </a:rPr>
              <a:t>AI-Based Cuffless Blood Pressure Estimation Using Vision Transformer</a:t>
            </a:r>
            <a:endParaRPr lang="en-IN" sz="3200" b="1" i="1" dirty="0">
              <a:latin typeface="Palatino Linotype" panose="02040502050505030304" pitchFamily="18" charset="0"/>
            </a:endParaRPr>
          </a:p>
        </p:txBody>
      </p:sp>
      <p:sp>
        <p:nvSpPr>
          <p:cNvPr id="7" name="TextBox 6">
            <a:extLst>
              <a:ext uri="{FF2B5EF4-FFF2-40B4-BE49-F238E27FC236}">
                <a16:creationId xmlns:a16="http://schemas.microsoft.com/office/drawing/2014/main" id="{B421105D-1C4B-7A0B-6911-F5BAF0DAC1EC}"/>
              </a:ext>
            </a:extLst>
          </p:cNvPr>
          <p:cNvSpPr txBox="1"/>
          <p:nvPr/>
        </p:nvSpPr>
        <p:spPr>
          <a:xfrm>
            <a:off x="0" y="2371411"/>
            <a:ext cx="12029243" cy="400110"/>
          </a:xfrm>
          <a:prstGeom prst="rect">
            <a:avLst/>
          </a:prstGeom>
          <a:noFill/>
        </p:spPr>
        <p:txBody>
          <a:bodyPr wrap="square" rtlCol="0">
            <a:spAutoFit/>
          </a:bodyPr>
          <a:lstStyle/>
          <a:p>
            <a:r>
              <a:rPr lang="en-IN" sz="2000" b="1" dirty="0">
                <a:latin typeface="Palatino Linotype" panose="02040502050505030304" pitchFamily="18" charset="0"/>
              </a:rPr>
              <a:t>TEAM MEMBERS :</a:t>
            </a:r>
          </a:p>
        </p:txBody>
      </p:sp>
      <p:sp>
        <p:nvSpPr>
          <p:cNvPr id="9" name="TextBox 8">
            <a:extLst>
              <a:ext uri="{FF2B5EF4-FFF2-40B4-BE49-F238E27FC236}">
                <a16:creationId xmlns:a16="http://schemas.microsoft.com/office/drawing/2014/main" id="{D5EC9AD8-3DE1-D0CB-17AE-5C91790FCDD9}"/>
              </a:ext>
            </a:extLst>
          </p:cNvPr>
          <p:cNvSpPr txBox="1"/>
          <p:nvPr/>
        </p:nvSpPr>
        <p:spPr>
          <a:xfrm>
            <a:off x="2559650" y="2355593"/>
            <a:ext cx="2910708" cy="1276311"/>
          </a:xfrm>
          <a:prstGeom prst="rect">
            <a:avLst/>
          </a:prstGeom>
          <a:noFill/>
        </p:spPr>
        <p:txBody>
          <a:bodyPr wrap="square" rtlCol="0">
            <a:spAutoFit/>
          </a:bodyPr>
          <a:lstStyle/>
          <a:p>
            <a:r>
              <a:rPr lang="en-IN" sz="2000" b="1" dirty="0">
                <a:latin typeface="Palatino Linotype" panose="02040502050505030304" pitchFamily="18" charset="0"/>
              </a:rPr>
              <a:t>Isha Pal</a:t>
            </a:r>
          </a:p>
          <a:p>
            <a:pPr>
              <a:lnSpc>
                <a:spcPct val="150000"/>
              </a:lnSpc>
            </a:pPr>
            <a:r>
              <a:rPr lang="en-IN" sz="2000" b="1" dirty="0">
                <a:latin typeface="Palatino Linotype" panose="02040502050505030304" pitchFamily="18" charset="0"/>
              </a:rPr>
              <a:t>Purva Wakde</a:t>
            </a:r>
          </a:p>
          <a:p>
            <a:pPr>
              <a:lnSpc>
                <a:spcPct val="150000"/>
              </a:lnSpc>
            </a:pPr>
            <a:r>
              <a:rPr lang="en-IN" sz="2000" b="1" dirty="0">
                <a:latin typeface="Palatino Linotype" panose="02040502050505030304" pitchFamily="18" charset="0"/>
              </a:rPr>
              <a:t>Diksha Choudhary</a:t>
            </a:r>
          </a:p>
        </p:txBody>
      </p:sp>
      <p:pic>
        <p:nvPicPr>
          <p:cNvPr id="11" name="Picture 10">
            <a:extLst>
              <a:ext uri="{FF2B5EF4-FFF2-40B4-BE49-F238E27FC236}">
                <a16:creationId xmlns:a16="http://schemas.microsoft.com/office/drawing/2014/main" id="{15D35DFA-2CA3-6E4F-FE10-281742BE2E66}"/>
              </a:ext>
            </a:extLst>
          </p:cNvPr>
          <p:cNvPicPr>
            <a:picLocks noChangeAspect="1"/>
          </p:cNvPicPr>
          <p:nvPr/>
        </p:nvPicPr>
        <p:blipFill>
          <a:blip r:embed="rId2"/>
          <a:stretch>
            <a:fillRect/>
          </a:stretch>
        </p:blipFill>
        <p:spPr>
          <a:xfrm>
            <a:off x="305194" y="4310559"/>
            <a:ext cx="2438005" cy="2261927"/>
          </a:xfrm>
          <a:prstGeom prst="rect">
            <a:avLst/>
          </a:prstGeom>
        </p:spPr>
      </p:pic>
      <p:sp>
        <p:nvSpPr>
          <p:cNvPr id="12" name="TextBox 11">
            <a:extLst>
              <a:ext uri="{FF2B5EF4-FFF2-40B4-BE49-F238E27FC236}">
                <a16:creationId xmlns:a16="http://schemas.microsoft.com/office/drawing/2014/main" id="{E682592E-3EBF-0E21-FB86-39392C205D02}"/>
              </a:ext>
            </a:extLst>
          </p:cNvPr>
          <p:cNvSpPr txBox="1"/>
          <p:nvPr/>
        </p:nvSpPr>
        <p:spPr>
          <a:xfrm>
            <a:off x="2898460" y="4163049"/>
            <a:ext cx="8778635" cy="1384995"/>
          </a:xfrm>
          <a:prstGeom prst="rect">
            <a:avLst/>
          </a:prstGeom>
          <a:noFill/>
        </p:spPr>
        <p:txBody>
          <a:bodyPr wrap="square" rtlCol="0">
            <a:spAutoFit/>
          </a:bodyPr>
          <a:lstStyle/>
          <a:p>
            <a:r>
              <a:rPr lang="en-IN" sz="2800" b="1" dirty="0">
                <a:latin typeface="Palatino Linotype" panose="02040502050505030304" pitchFamily="18" charset="0"/>
              </a:rPr>
              <a:t>Dr. Shyama Prasad Mukherjee International Institute of Information Technology, Naya Raipur</a:t>
            </a:r>
          </a:p>
          <a:p>
            <a:r>
              <a:rPr lang="en-IN" sz="2800" b="1" dirty="0">
                <a:latin typeface="Palatino Linotype" panose="02040502050505030304" pitchFamily="18" charset="0"/>
              </a:rPr>
              <a:t>IIIT-NR</a:t>
            </a:r>
          </a:p>
        </p:txBody>
      </p:sp>
    </p:spTree>
    <p:extLst>
      <p:ext uri="{BB962C8B-B14F-4D97-AF65-F5344CB8AC3E}">
        <p14:creationId xmlns:p14="http://schemas.microsoft.com/office/powerpoint/2010/main" val="3084620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94586" y="298580"/>
            <a:ext cx="8326416" cy="1380930"/>
          </a:xfrm>
          <a:prstGeom prst="rect">
            <a:avLst/>
          </a:prstGeom>
          <a:noFill/>
          <a:ln/>
        </p:spPr>
        <p:txBody>
          <a:bodyPr wrap="square" lIns="0" tIns="0" rIns="0" bIns="0" rtlCol="0" anchor="t">
            <a:normAutofit/>
          </a:bodyPr>
          <a:lstStyle/>
          <a:p>
            <a:pPr marL="0" indent="0" algn="l">
              <a:lnSpc>
                <a:spcPct val="104000"/>
              </a:lnSpc>
              <a:buNone/>
            </a:pPr>
            <a:endParaRPr lang="en-US" sz="3700" dirty="0">
              <a:ln w="12700">
                <a:solidFill>
                  <a:schemeClr val="tx2">
                    <a:satMod val="155000"/>
                  </a:schemeClr>
                </a:solidFill>
                <a:prstDash val="solid"/>
              </a:ln>
              <a:solidFill>
                <a:schemeClr val="tx1">
                  <a:lumMod val="95000"/>
                  <a:lumOff val="5000"/>
                </a:schemeClr>
              </a:solidFill>
              <a:effectLst>
                <a:glow rad="63500">
                  <a:schemeClr val="accent1">
                    <a:satMod val="175000"/>
                    <a:alpha val="40000"/>
                  </a:schemeClr>
                </a:glow>
                <a:outerShdw blurRad="41275" dist="20320" dir="1800000" algn="tl" rotWithShape="0">
                  <a:srgbClr val="000000">
                    <a:alpha val="40000"/>
                  </a:srgbClr>
                </a:outerShdw>
              </a:effectLst>
              <a:latin typeface="Palatino Linotype" panose="02040502050505030304" pitchFamily="18" charset="0"/>
              <a:cs typeface="Times New Roman" pitchFamily="18" charset="0"/>
            </a:endParaRPr>
          </a:p>
        </p:txBody>
      </p:sp>
      <p:sp>
        <p:nvSpPr>
          <p:cNvPr id="6" name="TextBox 5"/>
          <p:cNvSpPr txBox="1"/>
          <p:nvPr/>
        </p:nvSpPr>
        <p:spPr>
          <a:xfrm>
            <a:off x="194586" y="2290417"/>
            <a:ext cx="6836910" cy="2585323"/>
          </a:xfrm>
          <a:prstGeom prst="rect">
            <a:avLst/>
          </a:prstGeom>
          <a:noFill/>
        </p:spPr>
        <p:txBody>
          <a:bodyPr wrap="square" rtlCol="0">
            <a:spAutoFit/>
          </a:bodyPr>
          <a:lstStyle/>
          <a:p>
            <a:r>
              <a:rPr lang="en-IN" dirty="0"/>
              <a:t>Blood pressure is one of the most important indicators of cardiovascular health, yet traditional cuff-based devices are uncomfortable and unsuitable for continuous monitoring. This project introduces an AI-powered cuffless blood pressure estimation system that predicts Systolic Blood Pressure (SBP) and Diastolic Blood Pressure (DBP) using only Photoplethysmography (PPG) signals. By converting PPG signals into scalogram images and analysing them with a Vision Transformer (</a:t>
            </a:r>
            <a:r>
              <a:rPr lang="en-IN" dirty="0" err="1"/>
              <a:t>ViT</a:t>
            </a:r>
            <a:r>
              <a:rPr lang="en-IN" dirty="0"/>
              <a:t>), the system enables accurate, non-invasive, and continuous blood pressure monitoring, making healthcare more comfortable and accessible.</a:t>
            </a:r>
            <a:endParaRPr lang="en-US" dirty="0"/>
          </a:p>
        </p:txBody>
      </p:sp>
      <p:sp>
        <p:nvSpPr>
          <p:cNvPr id="10" name="TextBox 9">
            <a:extLst>
              <a:ext uri="{FF2B5EF4-FFF2-40B4-BE49-F238E27FC236}">
                <a16:creationId xmlns:a16="http://schemas.microsoft.com/office/drawing/2014/main" id="{F87C14CA-6C89-9617-ADB0-27662CDE375B}"/>
              </a:ext>
            </a:extLst>
          </p:cNvPr>
          <p:cNvSpPr txBox="1"/>
          <p:nvPr/>
        </p:nvSpPr>
        <p:spPr>
          <a:xfrm>
            <a:off x="-2269094" y="573520"/>
            <a:ext cx="6626888" cy="584775"/>
          </a:xfrm>
          <a:prstGeom prst="rect">
            <a:avLst/>
          </a:prstGeom>
          <a:noFill/>
        </p:spPr>
        <p:txBody>
          <a:bodyPr wrap="square">
            <a:spAutoFit/>
          </a:bodyPr>
          <a:lstStyle/>
          <a:p>
            <a:pPr marL="2628900" lvl="5" indent="-342900">
              <a:buFont typeface="Wingdings" pitchFamily="2" charset="2"/>
              <a:buChar char="v"/>
            </a:pPr>
            <a:r>
              <a:rPr lang="en-IN" sz="3200" b="1" i="1" dirty="0">
                <a:effectLst>
                  <a:outerShdw blurRad="50800" dist="38100" dir="8100000" algn="tr" rotWithShape="0">
                    <a:prstClr val="black">
                      <a:alpha val="40000"/>
                    </a:prstClr>
                  </a:outerShdw>
                </a:effectLst>
                <a:latin typeface="Palatino Linotype" panose="02040502050505030304" pitchFamily="18" charset="0"/>
              </a:rPr>
              <a:t>INTRODUCTION</a:t>
            </a:r>
            <a:endParaRPr lang="en-US" sz="3200" b="1" i="1" dirty="0">
              <a:effectLst>
                <a:outerShdw blurRad="50800" dist="38100" dir="8100000" algn="tr" rotWithShape="0">
                  <a:prstClr val="black">
                    <a:alpha val="40000"/>
                  </a:prstClr>
                </a:outerShdw>
              </a:effectLst>
              <a:latin typeface="Palatino Linotype" panose="02040502050505030304" pitchFamily="18" charset="0"/>
            </a:endParaRPr>
          </a:p>
        </p:txBody>
      </p:sp>
      <p:pic>
        <p:nvPicPr>
          <p:cNvPr id="15" name="Picture 14" descr="Exploring the Future: Top Wellness Trends to Watch in 2026">
            <a:extLst>
              <a:ext uri="{FF2B5EF4-FFF2-40B4-BE49-F238E27FC236}">
                <a16:creationId xmlns:a16="http://schemas.microsoft.com/office/drawing/2014/main" id="{CDC67D35-37C2-441D-D849-617F3567B179}"/>
              </a:ext>
            </a:extLst>
          </p:cNvPr>
          <p:cNvPicPr>
            <a:picLocks noChangeAspect="1"/>
          </p:cNvPicPr>
          <p:nvPr/>
        </p:nvPicPr>
        <p:blipFill>
          <a:blip r:embed="rId3"/>
          <a:stretch>
            <a:fillRect/>
          </a:stretch>
        </p:blipFill>
        <p:spPr>
          <a:xfrm>
            <a:off x="7031496" y="1937656"/>
            <a:ext cx="4965918" cy="46217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181720" y="148590"/>
            <a:ext cx="9605375" cy="1572007"/>
          </a:xfrm>
          <a:prstGeom prst="rect">
            <a:avLst/>
          </a:prstGeom>
          <a:noFill/>
          <a:ln/>
        </p:spPr>
        <p:txBody>
          <a:bodyPr wrap="square" lIns="0" tIns="0" rIns="0" bIns="0" rtlCol="0" anchor="t">
            <a:normAutofit/>
          </a:bodyPr>
          <a:lstStyle/>
          <a:p>
            <a:pPr marL="0" indent="0" algn="l">
              <a:lnSpc>
                <a:spcPct val="104000"/>
              </a:lnSpc>
              <a:buNone/>
            </a:pPr>
            <a:r>
              <a:rPr lang="en-US" sz="4000" b="1" dirty="0">
                <a:solidFill>
                  <a:schemeClr val="bg2">
                    <a:lumMod val="10000"/>
                  </a:schemeClr>
                </a:solidFill>
                <a:latin typeface="Palatino Linotype" panose="02040502050505030304" pitchFamily="18" charset="0"/>
                <a:ea typeface="Raleway" pitchFamily="34" charset="-122"/>
                <a:cs typeface="Raleway" pitchFamily="34" charset="-120"/>
              </a:rPr>
              <a:t>The Problem: Why Cuffless BP Monitoring</a:t>
            </a:r>
            <a:endParaRPr lang="en-US" sz="4000" b="1" dirty="0">
              <a:solidFill>
                <a:schemeClr val="bg2">
                  <a:lumMod val="10000"/>
                </a:schemeClr>
              </a:solidFill>
              <a:latin typeface="Palatino Linotype" panose="02040502050505030304" pitchFamily="18" charset="0"/>
            </a:endParaRPr>
          </a:p>
        </p:txBody>
      </p:sp>
      <p:pic>
        <p:nvPicPr>
          <p:cNvPr id="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41" y="1970758"/>
            <a:ext cx="6296860" cy="1352748"/>
          </a:xfrm>
          <a:prstGeom prst="rect">
            <a:avLst/>
          </a:prstGeom>
        </p:spPr>
      </p:pic>
      <p:sp>
        <p:nvSpPr>
          <p:cNvPr id="5" name="Text 1"/>
          <p:cNvSpPr/>
          <p:nvPr/>
        </p:nvSpPr>
        <p:spPr>
          <a:xfrm>
            <a:off x="260972" y="2043678"/>
            <a:ext cx="5785499" cy="280491"/>
          </a:xfrm>
          <a:prstGeom prst="rect">
            <a:avLst/>
          </a:prstGeom>
          <a:noFill/>
          <a:ln/>
        </p:spPr>
        <p:txBody>
          <a:bodyPr wrap="none" lIns="0" tIns="0" rIns="0" bIns="0" rtlCol="0" anchor="t"/>
          <a:lstStyle/>
          <a:p>
            <a:pPr marL="0" indent="0" algn="l">
              <a:lnSpc>
                <a:spcPct val="104000"/>
              </a:lnSpc>
              <a:buNone/>
            </a:pPr>
            <a:r>
              <a:rPr lang="en-US" sz="1750" b="1" dirty="0">
                <a:solidFill>
                  <a:srgbClr val="3C3939"/>
                </a:solidFill>
                <a:latin typeface="Raleway" pitchFamily="34" charset="0"/>
                <a:ea typeface="Raleway" pitchFamily="34" charset="-122"/>
                <a:cs typeface="Raleway" pitchFamily="34" charset="-120"/>
              </a:rPr>
              <a:t>Traditional Cuff Devices</a:t>
            </a:r>
            <a:endParaRPr lang="en-US" sz="1750" b="1" dirty="0"/>
          </a:p>
        </p:txBody>
      </p:sp>
      <p:sp>
        <p:nvSpPr>
          <p:cNvPr id="6" name="Text 2"/>
          <p:cNvSpPr/>
          <p:nvPr/>
        </p:nvSpPr>
        <p:spPr>
          <a:xfrm>
            <a:off x="260971" y="2367037"/>
            <a:ext cx="5785499" cy="560189"/>
          </a:xfrm>
          <a:prstGeom prst="rect">
            <a:avLst/>
          </a:prstGeom>
          <a:noFill/>
          <a:ln/>
        </p:spPr>
        <p:txBody>
          <a:bodyPr wrap="square" lIns="0" tIns="0" rIns="0" bIns="0" rtlCol="0" anchor="t">
            <a:normAutofit/>
          </a:bodyPr>
          <a:lstStyle/>
          <a:p>
            <a:pPr marL="0" indent="0" algn="l">
              <a:lnSpc>
                <a:spcPct val="130000"/>
              </a:lnSpc>
              <a:buNone/>
            </a:pPr>
            <a:r>
              <a:rPr lang="en-US" sz="1400" b="1" i="1" dirty="0">
                <a:solidFill>
                  <a:srgbClr val="3C3939"/>
                </a:solidFill>
                <a:latin typeface="Roboto" pitchFamily="34" charset="0"/>
                <a:ea typeface="Roboto" pitchFamily="34" charset="-122"/>
                <a:cs typeface="Roboto" pitchFamily="34" charset="-120"/>
              </a:rPr>
              <a:t>Uncomfortable, discontinuous — cannot monitor BP continuously or in real time.</a:t>
            </a:r>
            <a:endParaRPr lang="en-US" sz="1400" b="1" i="1"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41" y="3425801"/>
            <a:ext cx="6296860" cy="1418300"/>
          </a:xfrm>
          <a:prstGeom prst="rect">
            <a:avLst/>
          </a:prstGeom>
        </p:spPr>
      </p:pic>
      <p:sp>
        <p:nvSpPr>
          <p:cNvPr id="8" name="Text 3"/>
          <p:cNvSpPr/>
          <p:nvPr/>
        </p:nvSpPr>
        <p:spPr>
          <a:xfrm>
            <a:off x="260972" y="3496405"/>
            <a:ext cx="5286754" cy="184287"/>
          </a:xfrm>
          <a:prstGeom prst="rect">
            <a:avLst/>
          </a:prstGeom>
          <a:noFill/>
          <a:ln/>
        </p:spPr>
        <p:txBody>
          <a:bodyPr wrap="none" lIns="0" tIns="0" rIns="0" bIns="0" rtlCol="0" anchor="t"/>
          <a:lstStyle/>
          <a:p>
            <a:pPr marL="0" indent="0" algn="l">
              <a:lnSpc>
                <a:spcPct val="104000"/>
              </a:lnSpc>
              <a:buNone/>
            </a:pPr>
            <a:r>
              <a:rPr lang="en-US" sz="1750" b="1" dirty="0">
                <a:solidFill>
                  <a:srgbClr val="3C3939"/>
                </a:solidFill>
                <a:latin typeface="Raleway" pitchFamily="34" charset="0"/>
                <a:ea typeface="Raleway" pitchFamily="34" charset="-122"/>
                <a:cs typeface="Raleway" pitchFamily="34" charset="-120"/>
              </a:rPr>
              <a:t>Clinical Need</a:t>
            </a:r>
            <a:endParaRPr lang="en-US" sz="1750" b="1" dirty="0"/>
          </a:p>
        </p:txBody>
      </p:sp>
      <p:sp>
        <p:nvSpPr>
          <p:cNvPr id="9" name="Text 4"/>
          <p:cNvSpPr/>
          <p:nvPr/>
        </p:nvSpPr>
        <p:spPr>
          <a:xfrm>
            <a:off x="220070" y="3853591"/>
            <a:ext cx="5867299" cy="633676"/>
          </a:xfrm>
          <a:prstGeom prst="rect">
            <a:avLst/>
          </a:prstGeom>
          <a:noFill/>
          <a:ln/>
        </p:spPr>
        <p:txBody>
          <a:bodyPr wrap="square" lIns="0" tIns="0" rIns="0" bIns="0" rtlCol="0" anchor="t">
            <a:normAutofit/>
          </a:bodyPr>
          <a:lstStyle/>
          <a:p>
            <a:pPr marL="0" indent="0" algn="l">
              <a:lnSpc>
                <a:spcPct val="130000"/>
              </a:lnSpc>
              <a:buNone/>
            </a:pPr>
            <a:r>
              <a:rPr lang="en-US" sz="1400" i="1" dirty="0">
                <a:solidFill>
                  <a:srgbClr val="3C3939"/>
                </a:solidFill>
                <a:latin typeface="Roboto" pitchFamily="34" charset="0"/>
                <a:ea typeface="Roboto" pitchFamily="34" charset="-122"/>
                <a:cs typeface="Roboto" pitchFamily="34" charset="-120"/>
              </a:rPr>
              <a:t>Continuous, non-invasive, comfortable BP monitoring is essential for ICU patients and home healthcare.</a:t>
            </a:r>
            <a:endParaRPr lang="en-US" sz="1400" i="1"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41" y="4996993"/>
            <a:ext cx="6296860" cy="1352748"/>
          </a:xfrm>
          <a:prstGeom prst="rect">
            <a:avLst/>
          </a:prstGeom>
        </p:spPr>
      </p:pic>
      <p:sp>
        <p:nvSpPr>
          <p:cNvPr id="11" name="Text 5"/>
          <p:cNvSpPr/>
          <p:nvPr/>
        </p:nvSpPr>
        <p:spPr>
          <a:xfrm>
            <a:off x="260969" y="5058144"/>
            <a:ext cx="5785499" cy="280491"/>
          </a:xfrm>
          <a:prstGeom prst="rect">
            <a:avLst/>
          </a:prstGeom>
          <a:noFill/>
          <a:ln/>
        </p:spPr>
        <p:txBody>
          <a:bodyPr wrap="none" lIns="0" tIns="0" rIns="0" bIns="0" rtlCol="0" anchor="t"/>
          <a:lstStyle/>
          <a:p>
            <a:pPr>
              <a:lnSpc>
                <a:spcPct val="104000"/>
              </a:lnSpc>
            </a:pPr>
            <a:r>
              <a:rPr lang="en-US" sz="1750" b="1" dirty="0">
                <a:solidFill>
                  <a:srgbClr val="3C3939"/>
                </a:solidFill>
                <a:latin typeface="Raleway" pitchFamily="34" charset="0"/>
              </a:rPr>
              <a:t>Our solutions</a:t>
            </a:r>
            <a:r>
              <a:rPr lang="en-US" sz="1750" dirty="0">
                <a:solidFill>
                  <a:srgbClr val="3C3939"/>
                </a:solidFill>
                <a:latin typeface="Raleway" pitchFamily="34" charset="0"/>
              </a:rPr>
              <a:t>:</a:t>
            </a:r>
            <a:endParaRPr lang="en-US" sz="1750" dirty="0"/>
          </a:p>
        </p:txBody>
      </p:sp>
      <p:sp>
        <p:nvSpPr>
          <p:cNvPr id="12" name="Text 6"/>
          <p:cNvSpPr/>
          <p:nvPr/>
        </p:nvSpPr>
        <p:spPr>
          <a:xfrm>
            <a:off x="260968" y="5393272"/>
            <a:ext cx="5785499" cy="560189"/>
          </a:xfrm>
          <a:prstGeom prst="rect">
            <a:avLst/>
          </a:prstGeom>
          <a:noFill/>
          <a:ln/>
        </p:spPr>
        <p:txBody>
          <a:bodyPr wrap="square" lIns="0" tIns="0" rIns="0" bIns="0" rtlCol="0" anchor="t">
            <a:normAutofit/>
          </a:bodyPr>
          <a:lstStyle/>
          <a:p>
            <a:pPr marL="0" indent="0" algn="l">
              <a:lnSpc>
                <a:spcPct val="130000"/>
              </a:lnSpc>
              <a:buNone/>
            </a:pPr>
            <a:r>
              <a:rPr lang="en-US" sz="1400" i="1" dirty="0">
                <a:solidFill>
                  <a:srgbClr val="3C3939"/>
                </a:solidFill>
                <a:latin typeface="Roboto" pitchFamily="34" charset="0"/>
                <a:ea typeface="Roboto" pitchFamily="34" charset="-122"/>
                <a:cs typeface="Roboto" pitchFamily="34" charset="-120"/>
              </a:rPr>
              <a:t>AI-based cuffless estimation using only PPG signals from lightweight wearable sensors.</a:t>
            </a:r>
            <a:endParaRPr lang="en-US" sz="1400" i="1" dirty="0"/>
          </a:p>
        </p:txBody>
      </p:sp>
      <p:pic>
        <p:nvPicPr>
          <p:cNvPr id="18" name="Picture 17" descr="Blood Pressure Smartwatch Vs Cuff Are Smartwatches Accurate Enough Or Should You Stick With A Traditional Cuff">
            <a:extLst>
              <a:ext uri="{FF2B5EF4-FFF2-40B4-BE49-F238E27FC236}">
                <a16:creationId xmlns:a16="http://schemas.microsoft.com/office/drawing/2014/main" id="{818B7140-8171-B2ED-0BF5-E2067FD699F4}"/>
              </a:ext>
            </a:extLst>
          </p:cNvPr>
          <p:cNvPicPr>
            <a:picLocks noChangeAspect="1"/>
          </p:cNvPicPr>
          <p:nvPr/>
        </p:nvPicPr>
        <p:blipFill>
          <a:blip r:embed="rId4"/>
          <a:stretch>
            <a:fillRect/>
          </a:stretch>
        </p:blipFill>
        <p:spPr>
          <a:xfrm>
            <a:off x="6662056" y="1970758"/>
            <a:ext cx="5309873" cy="46410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58555" y="141139"/>
            <a:ext cx="10868745" cy="590649"/>
          </a:xfrm>
          <a:prstGeom prst="rect">
            <a:avLst/>
          </a:prstGeom>
          <a:noFill/>
          <a:ln/>
        </p:spPr>
        <p:txBody>
          <a:bodyPr wrap="none" lIns="0" tIns="0" rIns="0" bIns="0" rtlCol="0" anchor="t"/>
          <a:lstStyle/>
          <a:p>
            <a:pPr marL="0" indent="0" algn="l">
              <a:lnSpc>
                <a:spcPct val="104000"/>
              </a:lnSpc>
              <a:buNone/>
            </a:pPr>
            <a:r>
              <a:rPr lang="en-US" sz="5400" dirty="0">
                <a:solidFill>
                  <a:srgbClr val="1B1B27"/>
                </a:solidFill>
                <a:latin typeface="Palatino Linotype" panose="02040502050505030304" pitchFamily="18" charset="0"/>
                <a:ea typeface="Raleway" pitchFamily="34" charset="-122"/>
                <a:cs typeface="Raleway" pitchFamily="34" charset="-120"/>
              </a:rPr>
              <a:t>Project Objectives</a:t>
            </a:r>
            <a:endParaRPr lang="en-US" sz="5400" dirty="0">
              <a:latin typeface="Palatino Linotype" panose="02040502050505030304" pitchFamily="18" charset="0"/>
            </a:endParaRPr>
          </a:p>
        </p:txBody>
      </p:sp>
      <p:sp>
        <p:nvSpPr>
          <p:cNvPr id="4" name="Text 1"/>
          <p:cNvSpPr/>
          <p:nvPr/>
        </p:nvSpPr>
        <p:spPr>
          <a:xfrm>
            <a:off x="5919197" y="1917147"/>
            <a:ext cx="6903269" cy="295275"/>
          </a:xfrm>
          <a:prstGeom prst="rect">
            <a:avLst/>
          </a:prstGeom>
          <a:noFill/>
          <a:ln/>
        </p:spPr>
        <p:txBody>
          <a:bodyPr wrap="none" lIns="0" tIns="0" rIns="0" bIns="0" rtlCol="0" anchor="t"/>
          <a:lstStyle/>
          <a:p>
            <a:pPr marL="0" indent="0" algn="l">
              <a:lnSpc>
                <a:spcPct val="104000"/>
              </a:lnSpc>
              <a:buNone/>
            </a:pPr>
            <a:r>
              <a:rPr lang="en-US" sz="2400" b="1" i="1" dirty="0">
                <a:solidFill>
                  <a:srgbClr val="1B1B27"/>
                </a:solidFill>
                <a:latin typeface="Palatino Linotype" panose="02040502050505030304" pitchFamily="18" charset="0"/>
                <a:ea typeface="Raleway" pitchFamily="34" charset="-122"/>
                <a:cs typeface="Raleway" pitchFamily="34" charset="-120"/>
              </a:rPr>
              <a:t>Primary Objective</a:t>
            </a:r>
            <a:endParaRPr lang="en-US" sz="2400" b="1" i="1" dirty="0">
              <a:latin typeface="Palatino Linotype" panose="02040502050505030304" pitchFamily="18" charset="0"/>
            </a:endParaRPr>
          </a:p>
        </p:txBody>
      </p:sp>
      <p:sp>
        <p:nvSpPr>
          <p:cNvPr id="5" name="Text 2"/>
          <p:cNvSpPr/>
          <p:nvPr/>
        </p:nvSpPr>
        <p:spPr>
          <a:xfrm>
            <a:off x="5919197" y="2378812"/>
            <a:ext cx="6045289" cy="1371599"/>
          </a:xfrm>
          <a:prstGeom prst="rect">
            <a:avLst/>
          </a:prstGeom>
          <a:noFill/>
          <a:ln/>
        </p:spPr>
        <p:txBody>
          <a:bodyPr wrap="square" lIns="0" tIns="0" rIns="0" bIns="0" rtlCol="0" anchor="t">
            <a:noAutofit/>
          </a:bodyPr>
          <a:lstStyle/>
          <a:p>
            <a:pPr marL="0" indent="0" algn="l">
              <a:lnSpc>
                <a:spcPct val="133000"/>
              </a:lnSpc>
              <a:buNone/>
            </a:pPr>
            <a:r>
              <a:rPr lang="en-US" sz="2000" b="1" i="1" dirty="0">
                <a:solidFill>
                  <a:srgbClr val="3C3939"/>
                </a:solidFill>
                <a:latin typeface="Aptos Narrow" panose="020B0004020202020204" pitchFamily="34" charset="0"/>
                <a:ea typeface="Roboto" pitchFamily="34" charset="-122"/>
                <a:cs typeface="Roboto" pitchFamily="34" charset="-120"/>
              </a:rPr>
              <a:t>It Estimate </a:t>
            </a:r>
            <a:r>
              <a:rPr lang="en-US" sz="2000" b="1" i="1" dirty="0">
                <a:solidFill>
                  <a:srgbClr val="3C3939"/>
                </a:solidFill>
                <a:latin typeface="Aptos Narrow" panose="020B0004020202020204" pitchFamily="34" charset="0"/>
                <a:ea typeface="Roboto Bold" pitchFamily="34" charset="-122"/>
                <a:cs typeface="Roboto Bold" pitchFamily="34" charset="-120"/>
              </a:rPr>
              <a:t>Systolic (SBP)</a:t>
            </a:r>
            <a:r>
              <a:rPr lang="en-US" sz="2000" b="1" i="1" dirty="0">
                <a:solidFill>
                  <a:srgbClr val="3C3939"/>
                </a:solidFill>
                <a:latin typeface="Aptos Narrow" panose="020B0004020202020204" pitchFamily="34" charset="0"/>
                <a:ea typeface="Roboto" pitchFamily="34" charset="-122"/>
                <a:cs typeface="Roboto" pitchFamily="34" charset="-120"/>
              </a:rPr>
              <a:t> and </a:t>
            </a:r>
            <a:r>
              <a:rPr lang="en-US" sz="2000" b="1" i="1" dirty="0">
                <a:solidFill>
                  <a:srgbClr val="3C3939"/>
                </a:solidFill>
                <a:latin typeface="Aptos Narrow" panose="020B0004020202020204" pitchFamily="34" charset="0"/>
                <a:ea typeface="Roboto Bold" pitchFamily="34" charset="-122"/>
                <a:cs typeface="Roboto Bold" pitchFamily="34" charset="-120"/>
              </a:rPr>
              <a:t>Diastolic (DBP)</a:t>
            </a:r>
            <a:r>
              <a:rPr lang="en-US" sz="2000" b="1" i="1" dirty="0">
                <a:solidFill>
                  <a:srgbClr val="3C3939"/>
                </a:solidFill>
                <a:latin typeface="Aptos Narrow" panose="020B0004020202020204" pitchFamily="34" charset="0"/>
                <a:ea typeface="Roboto" pitchFamily="34" charset="-122"/>
                <a:cs typeface="Roboto" pitchFamily="34" charset="-120"/>
              </a:rPr>
              <a:t> blood pressure values using PPG signals alone — no cuff, no arterial line</a:t>
            </a:r>
            <a:endParaRPr lang="en-US" sz="2000" b="1" i="1" dirty="0">
              <a:latin typeface="Aptos Narrow" panose="020B0004020202020204" pitchFamily="34" charset="0"/>
            </a:endParaRPr>
          </a:p>
        </p:txBody>
      </p:sp>
      <p:sp>
        <p:nvSpPr>
          <p:cNvPr id="7" name="Text 4"/>
          <p:cNvSpPr/>
          <p:nvPr/>
        </p:nvSpPr>
        <p:spPr>
          <a:xfrm>
            <a:off x="5592927" y="4212076"/>
            <a:ext cx="6903269" cy="1371600"/>
          </a:xfrm>
          <a:prstGeom prst="rect">
            <a:avLst/>
          </a:prstGeom>
          <a:noFill/>
          <a:ln/>
        </p:spPr>
        <p:txBody>
          <a:bodyPr wrap="square" lIns="0" tIns="0" rIns="0" bIns="0" rtlCol="0" anchor="t">
            <a:noAutofit/>
          </a:bodyPr>
          <a:lstStyle/>
          <a:p>
            <a:pPr marL="294640" indent="-294640" algn="l">
              <a:lnSpc>
                <a:spcPct val="133000"/>
              </a:lnSpc>
              <a:buSzPct val="100000"/>
              <a:buChar char="•"/>
            </a:pPr>
            <a:r>
              <a:rPr lang="en-US" b="1" i="1" dirty="0">
                <a:solidFill>
                  <a:srgbClr val="3C3939"/>
                </a:solidFill>
                <a:latin typeface="Roboto" pitchFamily="34" charset="0"/>
                <a:ea typeface="Roboto" pitchFamily="34" charset="-122"/>
                <a:cs typeface="Roboto" pitchFamily="34" charset="-120"/>
              </a:rPr>
              <a:t>Train a Vision Transformer (ViT) model for BP regression</a:t>
            </a:r>
            <a:endParaRPr lang="en-US" b="1" i="1" dirty="0"/>
          </a:p>
          <a:p>
            <a:pPr marL="294640" indent="-294640" algn="l">
              <a:lnSpc>
                <a:spcPct val="133000"/>
              </a:lnSpc>
              <a:buSzPct val="100000"/>
              <a:buChar char="•"/>
            </a:pPr>
            <a:r>
              <a:rPr lang="en-US" b="1" i="1" dirty="0">
                <a:solidFill>
                  <a:srgbClr val="3C3939"/>
                </a:solidFill>
                <a:latin typeface="Roboto" pitchFamily="34" charset="0"/>
                <a:ea typeface="Roboto" pitchFamily="34" charset="-122"/>
                <a:cs typeface="Roboto" pitchFamily="34" charset="-120"/>
              </a:rPr>
              <a:t>Generate time-frequency scalograms via Continuous Wavelet Transform</a:t>
            </a:r>
            <a:endParaRPr lang="en-US" b="1" i="1" dirty="0"/>
          </a:p>
          <a:p>
            <a:pPr marL="294640" indent="-294640" algn="l">
              <a:lnSpc>
                <a:spcPct val="133000"/>
              </a:lnSpc>
              <a:buSzPct val="100000"/>
              <a:buChar char="•"/>
            </a:pPr>
            <a:r>
              <a:rPr lang="en-US" b="1" i="1" dirty="0">
                <a:solidFill>
                  <a:srgbClr val="3C3939"/>
                </a:solidFill>
                <a:latin typeface="Roboto" pitchFamily="34" charset="0"/>
                <a:ea typeface="Roboto" pitchFamily="34" charset="-122"/>
                <a:cs typeface="Roboto" pitchFamily="34" charset="-120"/>
              </a:rPr>
              <a:t>Build an end-to-end prediction pipeline</a:t>
            </a:r>
            <a:endParaRPr lang="en-US" b="1" i="1" dirty="0"/>
          </a:p>
          <a:p>
            <a:pPr marL="294640" indent="-294640" algn="l">
              <a:lnSpc>
                <a:spcPct val="133000"/>
              </a:lnSpc>
              <a:buSzPct val="100000"/>
              <a:buChar char="•"/>
            </a:pPr>
            <a:r>
              <a:rPr lang="en-US" b="1" i="1" dirty="0">
                <a:solidFill>
                  <a:srgbClr val="3C3939"/>
                </a:solidFill>
                <a:latin typeface="Roboto" pitchFamily="34" charset="0"/>
                <a:ea typeface="Roboto" pitchFamily="34" charset="-122"/>
                <a:cs typeface="Roboto" pitchFamily="34" charset="-120"/>
              </a:rPr>
              <a:t>Evaluate using MAE, RMSE, and R² metrics</a:t>
            </a:r>
            <a:endParaRPr lang="en-US" b="1" i="1" dirty="0"/>
          </a:p>
        </p:txBody>
      </p:sp>
      <p:sp>
        <p:nvSpPr>
          <p:cNvPr id="10" name="TextBox 9">
            <a:extLst>
              <a:ext uri="{FF2B5EF4-FFF2-40B4-BE49-F238E27FC236}">
                <a16:creationId xmlns:a16="http://schemas.microsoft.com/office/drawing/2014/main" id="{17148BA2-6893-ED85-EDFE-30F63E6ADB1A}"/>
              </a:ext>
            </a:extLst>
          </p:cNvPr>
          <p:cNvSpPr txBox="1"/>
          <p:nvPr/>
        </p:nvSpPr>
        <p:spPr>
          <a:xfrm>
            <a:off x="5752721" y="3685968"/>
            <a:ext cx="3291840" cy="461665"/>
          </a:xfrm>
          <a:prstGeom prst="rect">
            <a:avLst/>
          </a:prstGeom>
          <a:noFill/>
        </p:spPr>
        <p:txBody>
          <a:bodyPr wrap="square" rtlCol="0">
            <a:spAutoFit/>
          </a:bodyPr>
          <a:lstStyle/>
          <a:p>
            <a:r>
              <a:rPr lang="en-US" sz="2400" b="1" i="1" dirty="0">
                <a:latin typeface="Palatino Linotype" panose="02040502050505030304" pitchFamily="18" charset="0"/>
              </a:rPr>
              <a:t>Secondary objective</a:t>
            </a:r>
            <a:endParaRPr lang="en-IN" sz="2400" b="1" i="1" dirty="0">
              <a:latin typeface="Palatino Linotype" panose="02040502050505030304" pitchFamily="18" charset="0"/>
            </a:endParaRPr>
          </a:p>
        </p:txBody>
      </p:sp>
      <p:pic>
        <p:nvPicPr>
          <p:cNvPr id="3" name="Picture 2" descr="5 AI In Healthcare Examples That Will BLOW Your Mind | Lindy">
            <a:extLst>
              <a:ext uri="{FF2B5EF4-FFF2-40B4-BE49-F238E27FC236}">
                <a16:creationId xmlns:a16="http://schemas.microsoft.com/office/drawing/2014/main" id="{2E2111B4-C6BC-E62C-9EAB-22E1E682C66A}"/>
              </a:ext>
            </a:extLst>
          </p:cNvPr>
          <p:cNvPicPr>
            <a:picLocks noChangeAspect="1"/>
          </p:cNvPicPr>
          <p:nvPr/>
        </p:nvPicPr>
        <p:blipFill>
          <a:blip r:embed="rId3"/>
          <a:stretch>
            <a:fillRect/>
          </a:stretch>
        </p:blipFill>
        <p:spPr>
          <a:xfrm>
            <a:off x="158554" y="2023353"/>
            <a:ext cx="5327846" cy="46935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45909" y="139654"/>
            <a:ext cx="10868745" cy="590649"/>
          </a:xfrm>
          <a:prstGeom prst="rect">
            <a:avLst/>
          </a:prstGeom>
          <a:noFill/>
          <a:ln/>
        </p:spPr>
        <p:txBody>
          <a:bodyPr wrap="none" lIns="0" tIns="0" rIns="0" bIns="0" rtlCol="0" anchor="t"/>
          <a:lstStyle/>
          <a:p>
            <a:pPr marL="0" indent="0">
              <a:lnSpc>
                <a:spcPct val="104000"/>
              </a:lnSpc>
              <a:buNone/>
            </a:pPr>
            <a:r>
              <a:rPr lang="en-US" sz="3700" b="1" dirty="0">
                <a:solidFill>
                  <a:srgbClr val="1B1B27"/>
                </a:solidFill>
                <a:latin typeface="Palatino Linotype" panose="02040502050505030304" pitchFamily="18" charset="0"/>
                <a:ea typeface="Raleway" pitchFamily="34" charset="-122"/>
                <a:cs typeface="Raleway" pitchFamily="34" charset="-120"/>
              </a:rPr>
              <a:t>Dataset &amp; Data Preparation</a:t>
            </a:r>
            <a:endParaRPr lang="en-US" sz="3700" b="1" dirty="0">
              <a:latin typeface="Palatino Linotype" panose="02040502050505030304" pitchFamily="18" charset="0"/>
            </a:endParaRPr>
          </a:p>
        </p:txBody>
      </p:sp>
      <p:sp>
        <p:nvSpPr>
          <p:cNvPr id="3" name="Text 1"/>
          <p:cNvSpPr/>
          <p:nvPr/>
        </p:nvSpPr>
        <p:spPr>
          <a:xfrm>
            <a:off x="661475" y="2224187"/>
            <a:ext cx="5203794"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4" name="Text 2"/>
          <p:cNvSpPr/>
          <p:nvPr/>
        </p:nvSpPr>
        <p:spPr>
          <a:xfrm>
            <a:off x="661475" y="2708473"/>
            <a:ext cx="5203794" cy="907256"/>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5" name="Text 3"/>
          <p:cNvSpPr/>
          <p:nvPr/>
        </p:nvSpPr>
        <p:spPr>
          <a:xfrm>
            <a:off x="661475" y="3804741"/>
            <a:ext cx="5203794"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6" name="Text 4"/>
          <p:cNvSpPr/>
          <p:nvPr/>
        </p:nvSpPr>
        <p:spPr>
          <a:xfrm>
            <a:off x="661475" y="4289028"/>
            <a:ext cx="5203794" cy="1341834"/>
          </a:xfrm>
          <a:prstGeom prst="rect">
            <a:avLst/>
          </a:prstGeom>
          <a:noFill/>
          <a:ln/>
        </p:spPr>
        <p:txBody>
          <a:bodyPr wrap="square" lIns="0" tIns="0" rIns="0" bIns="0" rtlCol="0" anchor="t">
            <a:normAutofit/>
          </a:bodyPr>
          <a:lstStyle/>
          <a:p>
            <a:pPr algn="l">
              <a:lnSpc>
                <a:spcPct val="133000"/>
              </a:lnSpc>
              <a:buSzPct val="100000"/>
            </a:pPr>
            <a:endParaRPr lang="en-US" sz="1450" dirty="0"/>
          </a:p>
        </p:txBody>
      </p:sp>
      <p:sp>
        <p:nvSpPr>
          <p:cNvPr id="7" name="Shape 5"/>
          <p:cNvSpPr/>
          <p:nvPr/>
        </p:nvSpPr>
        <p:spPr>
          <a:xfrm>
            <a:off x="5498365" y="2339131"/>
            <a:ext cx="2507394" cy="1479848"/>
          </a:xfrm>
          <a:prstGeom prst="roundRect">
            <a:avLst>
              <a:gd name="adj" fmla="val 5365"/>
            </a:avLst>
          </a:prstGeom>
          <a:solidFill>
            <a:srgbClr val="E1E1EA"/>
          </a:solidFill>
          <a:ln w="6350">
            <a:solidFill>
              <a:srgbClr val="C7C7D0"/>
            </a:solidFill>
            <a:prstDash val="solid"/>
          </a:ln>
        </p:spPr>
      </p:sp>
      <p:sp>
        <p:nvSpPr>
          <p:cNvPr id="8" name="Text 6"/>
          <p:cNvSpPr/>
          <p:nvPr/>
        </p:nvSpPr>
        <p:spPr>
          <a:xfrm>
            <a:off x="6326733" y="2519462"/>
            <a:ext cx="2318080" cy="218976"/>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Step 1</a:t>
            </a:r>
            <a:endParaRPr lang="en-US" sz="1850" dirty="0"/>
          </a:p>
        </p:txBody>
      </p:sp>
      <p:sp>
        <p:nvSpPr>
          <p:cNvPr id="9" name="Text 7"/>
          <p:cNvSpPr/>
          <p:nvPr/>
        </p:nvSpPr>
        <p:spPr>
          <a:xfrm>
            <a:off x="5693722" y="2937534"/>
            <a:ext cx="211668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Extract valid PPG &amp; ABP records</a:t>
            </a:r>
            <a:endParaRPr lang="en-US" sz="1450" dirty="0"/>
          </a:p>
        </p:txBody>
      </p:sp>
      <p:sp>
        <p:nvSpPr>
          <p:cNvPr id="10" name="Shape 8"/>
          <p:cNvSpPr/>
          <p:nvPr/>
        </p:nvSpPr>
        <p:spPr>
          <a:xfrm>
            <a:off x="8585479" y="2372955"/>
            <a:ext cx="2507394" cy="1479848"/>
          </a:xfrm>
          <a:prstGeom prst="roundRect">
            <a:avLst>
              <a:gd name="adj" fmla="val 5365"/>
            </a:avLst>
          </a:prstGeom>
          <a:solidFill>
            <a:srgbClr val="E1E1EA"/>
          </a:solidFill>
          <a:ln w="6350">
            <a:solidFill>
              <a:srgbClr val="C7C7D0"/>
            </a:solidFill>
            <a:prstDash val="solid"/>
          </a:ln>
        </p:spPr>
      </p:sp>
      <p:sp>
        <p:nvSpPr>
          <p:cNvPr id="11" name="Text 9"/>
          <p:cNvSpPr/>
          <p:nvPr/>
        </p:nvSpPr>
        <p:spPr>
          <a:xfrm>
            <a:off x="9224533" y="2514181"/>
            <a:ext cx="2116680" cy="290007"/>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     Step 2</a:t>
            </a:r>
            <a:endParaRPr lang="en-US" sz="1850" dirty="0"/>
          </a:p>
        </p:txBody>
      </p:sp>
      <p:sp>
        <p:nvSpPr>
          <p:cNvPr id="12" name="Text 10"/>
          <p:cNvSpPr/>
          <p:nvPr/>
        </p:nvSpPr>
        <p:spPr>
          <a:xfrm>
            <a:off x="8780836" y="2993201"/>
            <a:ext cx="211668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Segment into fixed-length windows</a:t>
            </a:r>
            <a:endParaRPr lang="en-US" sz="1450" dirty="0"/>
          </a:p>
        </p:txBody>
      </p:sp>
      <p:sp>
        <p:nvSpPr>
          <p:cNvPr id="13" name="Shape 11"/>
          <p:cNvSpPr/>
          <p:nvPr/>
        </p:nvSpPr>
        <p:spPr>
          <a:xfrm>
            <a:off x="5810860" y="4200318"/>
            <a:ext cx="5203794" cy="1177429"/>
          </a:xfrm>
          <a:prstGeom prst="roundRect">
            <a:avLst>
              <a:gd name="adj" fmla="val 6742"/>
            </a:avLst>
          </a:prstGeom>
          <a:solidFill>
            <a:srgbClr val="E1E1EA"/>
          </a:solidFill>
          <a:ln w="6350">
            <a:solidFill>
              <a:srgbClr val="C7C7D0"/>
            </a:solidFill>
            <a:prstDash val="solid"/>
          </a:ln>
        </p:spPr>
      </p:sp>
      <p:sp>
        <p:nvSpPr>
          <p:cNvPr id="14" name="Text 12"/>
          <p:cNvSpPr/>
          <p:nvPr/>
        </p:nvSpPr>
        <p:spPr>
          <a:xfrm>
            <a:off x="7978048" y="4268019"/>
            <a:ext cx="4813080"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Step 3</a:t>
            </a:r>
            <a:endParaRPr lang="en-US" sz="1850" dirty="0"/>
          </a:p>
        </p:txBody>
      </p:sp>
      <p:sp>
        <p:nvSpPr>
          <p:cNvPr id="15" name="Text 13"/>
          <p:cNvSpPr/>
          <p:nvPr/>
        </p:nvSpPr>
        <p:spPr>
          <a:xfrm>
            <a:off x="6869200" y="4751865"/>
            <a:ext cx="4813080" cy="453289"/>
          </a:xfrm>
          <a:prstGeom prst="rect">
            <a:avLst/>
          </a:prstGeom>
          <a:noFill/>
          <a:ln/>
        </p:spPr>
        <p:txBody>
          <a:bodyPr wrap="none" lIns="0" tIns="0" rIns="0" bIns="0" rtlCol="0" anchor="t"/>
          <a:lstStyle/>
          <a:p>
            <a:pPr marL="0" indent="0" algn="l">
              <a:lnSpc>
                <a:spcPct val="133000"/>
              </a:lnSpc>
              <a:buNone/>
            </a:pPr>
            <a:r>
              <a:rPr lang="en-US" sz="1600" dirty="0">
                <a:solidFill>
                  <a:srgbClr val="3C3939"/>
                </a:solidFill>
                <a:latin typeface="Roboto" pitchFamily="34" charset="0"/>
                <a:ea typeface="Roboto" pitchFamily="34" charset="-122"/>
                <a:cs typeface="Roboto" pitchFamily="34" charset="-120"/>
              </a:rPr>
              <a:t>Clean, normalize &amp; feature engineer</a:t>
            </a:r>
            <a:endParaRPr lang="en-US" sz="1600" dirty="0"/>
          </a:p>
        </p:txBody>
      </p:sp>
      <p:sp>
        <p:nvSpPr>
          <p:cNvPr id="16" name="TextBox 15">
            <a:extLst>
              <a:ext uri="{FF2B5EF4-FFF2-40B4-BE49-F238E27FC236}">
                <a16:creationId xmlns:a16="http://schemas.microsoft.com/office/drawing/2014/main" id="{10B07939-0AD4-8DDC-D50E-95C8E292FD1E}"/>
              </a:ext>
            </a:extLst>
          </p:cNvPr>
          <p:cNvSpPr txBox="1"/>
          <p:nvPr/>
        </p:nvSpPr>
        <p:spPr>
          <a:xfrm>
            <a:off x="193968" y="2059552"/>
            <a:ext cx="4280980" cy="3785652"/>
          </a:xfrm>
          <a:prstGeom prst="rect">
            <a:avLst/>
          </a:prstGeom>
          <a:noFill/>
        </p:spPr>
        <p:txBody>
          <a:bodyPr wrap="square" rtlCol="0">
            <a:spAutoFit/>
          </a:bodyPr>
          <a:lstStyle/>
          <a:p>
            <a:r>
              <a:rPr lang="en-IN" sz="2000" dirty="0"/>
              <a:t>The project uses the MIMIC-IV Waveform Database, which contains synchronized PPG and arterial blood pressure signals collected from ICU patients. During preprocessing, invalid records, missing values, and duplicate windows are removed. The signals are normalized, segmented into fixed-length windows, and enhanced by engineering additional cardiovascular features, ensuring high-quality input data for model training</a:t>
            </a:r>
            <a:r>
              <a:rPr lang="en-IN" dirty="0"/>
              <a:t>. </a:t>
            </a:r>
            <a:endParaRPr lang="en-US" sz="1800" kern="1200" dirty="0">
              <a:solidFill>
                <a:schemeClr val="tx1"/>
              </a:solidFill>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D2803-6127-4C77-79A5-FEFA467CD4F6}"/>
              </a:ext>
            </a:extLst>
          </p:cNvPr>
          <p:cNvSpPr>
            <a:spLocks noGrp="1"/>
          </p:cNvSpPr>
          <p:nvPr>
            <p:ph type="title"/>
          </p:nvPr>
        </p:nvSpPr>
        <p:spPr>
          <a:xfrm>
            <a:off x="0" y="-341812"/>
            <a:ext cx="10741152" cy="1132258"/>
          </a:xfrm>
        </p:spPr>
        <p:txBody>
          <a:bodyPr/>
          <a:lstStyle/>
          <a:p>
            <a:r>
              <a:rPr lang="en-IN" dirty="0"/>
              <a:t>PPG SIGNALS:</a:t>
            </a:r>
          </a:p>
        </p:txBody>
      </p:sp>
      <p:sp>
        <p:nvSpPr>
          <p:cNvPr id="5" name="TextBox 4">
            <a:extLst>
              <a:ext uri="{FF2B5EF4-FFF2-40B4-BE49-F238E27FC236}">
                <a16:creationId xmlns:a16="http://schemas.microsoft.com/office/drawing/2014/main" id="{5970A64F-6BCB-B237-706E-37BBEF70F7D0}"/>
              </a:ext>
            </a:extLst>
          </p:cNvPr>
          <p:cNvSpPr txBox="1"/>
          <p:nvPr/>
        </p:nvSpPr>
        <p:spPr>
          <a:xfrm>
            <a:off x="0" y="870858"/>
            <a:ext cx="4180115" cy="923330"/>
          </a:xfrm>
          <a:prstGeom prst="rect">
            <a:avLst/>
          </a:prstGeom>
          <a:noFill/>
        </p:spPr>
        <p:txBody>
          <a:bodyPr wrap="square" rtlCol="0">
            <a:spAutoFit/>
          </a:bodyPr>
          <a:lstStyle/>
          <a:p>
            <a:pPr marL="285750" lvl="0" indent="-285750">
              <a:buFont typeface="Wingdings" panose="05000000000000000000" pitchFamily="2" charset="2"/>
              <a:buChar char="ü"/>
            </a:pPr>
            <a:r>
              <a:rPr lang="en-IN" dirty="0"/>
              <a:t>Finger blood volume changes </a:t>
            </a:r>
          </a:p>
          <a:p>
            <a:pPr marL="285750" lvl="0" indent="-285750">
              <a:buFont typeface="Wingdings" panose="05000000000000000000" pitchFamily="2" charset="2"/>
              <a:buChar char="ü"/>
            </a:pPr>
            <a:r>
              <a:rPr lang="en-IN" dirty="0"/>
              <a:t>PPG waveform used for BP estimation</a:t>
            </a:r>
          </a:p>
          <a:p>
            <a:pPr marL="285750" indent="-285750">
              <a:buFont typeface="Wingdings" panose="05000000000000000000" pitchFamily="2" charset="2"/>
              <a:buChar char="ü"/>
            </a:pPr>
            <a:endParaRPr lang="en-IN" dirty="0"/>
          </a:p>
        </p:txBody>
      </p:sp>
      <p:pic>
        <p:nvPicPr>
          <p:cNvPr id="6" name="Picture 5" descr="PPG EduKit: An Adjustable Photoplethysmography Evaluation System for Educational Activities">
            <a:extLst>
              <a:ext uri="{FF2B5EF4-FFF2-40B4-BE49-F238E27FC236}">
                <a16:creationId xmlns:a16="http://schemas.microsoft.com/office/drawing/2014/main" id="{DC79DEBB-AEA8-1052-4FAC-47EE8762E6F1}"/>
              </a:ext>
            </a:extLst>
          </p:cNvPr>
          <p:cNvPicPr>
            <a:picLocks noChangeAspect="1"/>
          </p:cNvPicPr>
          <p:nvPr/>
        </p:nvPicPr>
        <p:blipFill>
          <a:blip r:embed="rId2"/>
          <a:stretch>
            <a:fillRect/>
          </a:stretch>
        </p:blipFill>
        <p:spPr>
          <a:xfrm>
            <a:off x="190023" y="2009776"/>
            <a:ext cx="5542234" cy="4576082"/>
          </a:xfrm>
          <a:prstGeom prst="rect">
            <a:avLst/>
          </a:prstGeom>
        </p:spPr>
      </p:pic>
      <p:pic>
        <p:nvPicPr>
          <p:cNvPr id="8" name="Picture 7" descr="An Overview of the Sensors for Heart Rate Monitoring Used in Extramural Applications | MDPI">
            <a:extLst>
              <a:ext uri="{FF2B5EF4-FFF2-40B4-BE49-F238E27FC236}">
                <a16:creationId xmlns:a16="http://schemas.microsoft.com/office/drawing/2014/main" id="{5CCCAF32-4823-4D45-C1A2-2D18CD8DB0A2}"/>
              </a:ext>
            </a:extLst>
          </p:cNvPr>
          <p:cNvPicPr>
            <a:picLocks noChangeAspect="1"/>
          </p:cNvPicPr>
          <p:nvPr/>
        </p:nvPicPr>
        <p:blipFill>
          <a:blip r:embed="rId3"/>
          <a:stretch>
            <a:fillRect/>
          </a:stretch>
        </p:blipFill>
        <p:spPr>
          <a:xfrm>
            <a:off x="6096000" y="2009776"/>
            <a:ext cx="5812971" cy="4576082"/>
          </a:xfrm>
          <a:prstGeom prst="rect">
            <a:avLst/>
          </a:prstGeom>
        </p:spPr>
      </p:pic>
    </p:spTree>
    <p:extLst>
      <p:ext uri="{BB962C8B-B14F-4D97-AF65-F5344CB8AC3E}">
        <p14:creationId xmlns:p14="http://schemas.microsoft.com/office/powerpoint/2010/main" val="209955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30170" y="173702"/>
            <a:ext cx="8933730" cy="581422"/>
          </a:xfrm>
          <a:prstGeom prst="rect">
            <a:avLst/>
          </a:prstGeom>
          <a:noFill/>
          <a:ln/>
        </p:spPr>
        <p:txBody>
          <a:bodyPr wrap="none" lIns="0" tIns="0" rIns="0" bIns="0" rtlCol="0" anchor="t"/>
          <a:lstStyle/>
          <a:p>
            <a:pPr marL="0" indent="0" algn="l">
              <a:lnSpc>
                <a:spcPct val="104000"/>
              </a:lnSpc>
              <a:buNone/>
            </a:pPr>
            <a:endParaRPr lang="en-US" sz="3600" b="1" i="1" dirty="0">
              <a:ln w="17780" cmpd="sng">
                <a:solidFill>
                  <a:schemeClr val="bg1">
                    <a:lumMod val="75000"/>
                  </a:schemeClr>
                </a:solidFill>
                <a:prstDash val="solid"/>
                <a:miter lim="800000"/>
              </a:ln>
              <a:solidFill>
                <a:schemeClr val="tx1">
                  <a:lumMod val="95000"/>
                  <a:lumOff val="5000"/>
                </a:schemeClr>
              </a:solidFill>
              <a:effectLst>
                <a:outerShdw blurRad="50800" algn="tl" rotWithShape="0">
                  <a:srgbClr val="000000"/>
                </a:outerShdw>
              </a:effectLst>
              <a:latin typeface="Palatino Linotype" panose="02040502050505030304" pitchFamily="18" charset="0"/>
              <a:cs typeface="Times New Roman" pitchFamily="18" charset="0"/>
            </a:endParaRPr>
          </a:p>
        </p:txBody>
      </p:sp>
      <p:sp>
        <p:nvSpPr>
          <p:cNvPr id="4" name="Text 1"/>
          <p:cNvSpPr/>
          <p:nvPr/>
        </p:nvSpPr>
        <p:spPr>
          <a:xfrm>
            <a:off x="7347124" y="4367319"/>
            <a:ext cx="1586812" cy="611372"/>
          </a:xfrm>
          <a:prstGeom prst="rect">
            <a:avLst/>
          </a:prstGeom>
          <a:noFill/>
          <a:ln/>
        </p:spPr>
        <p:txBody>
          <a:bodyPr wrap="square" lIns="0" tIns="0" rIns="0" bIns="0" rtlCol="0" anchor="t">
            <a:normAutofit/>
          </a:bodyPr>
          <a:lstStyle/>
          <a:p>
            <a:pPr marL="0" indent="0" algn="ctr">
              <a:lnSpc>
                <a:spcPct val="104000"/>
              </a:lnSpc>
              <a:buNone/>
            </a:pPr>
            <a:endParaRPr lang="en-US" sz="1900" dirty="0"/>
          </a:p>
        </p:txBody>
      </p:sp>
      <p:sp>
        <p:nvSpPr>
          <p:cNvPr id="5" name="Text 2"/>
          <p:cNvSpPr/>
          <p:nvPr/>
        </p:nvSpPr>
        <p:spPr>
          <a:xfrm>
            <a:off x="5347307" y="4367319"/>
            <a:ext cx="1586812" cy="611372"/>
          </a:xfrm>
          <a:prstGeom prst="rect">
            <a:avLst/>
          </a:prstGeom>
          <a:noFill/>
          <a:ln/>
        </p:spPr>
        <p:txBody>
          <a:bodyPr wrap="square" lIns="0" tIns="0" rIns="0" bIns="0" rtlCol="0" anchor="t">
            <a:normAutofit/>
          </a:bodyPr>
          <a:lstStyle/>
          <a:p>
            <a:pPr marL="0" indent="0" algn="ctr">
              <a:lnSpc>
                <a:spcPct val="104000"/>
              </a:lnSpc>
              <a:buNone/>
            </a:pPr>
            <a:endParaRPr lang="en-US" sz="1900" dirty="0"/>
          </a:p>
        </p:txBody>
      </p:sp>
      <p:sp>
        <p:nvSpPr>
          <p:cNvPr id="6" name="Text 3"/>
          <p:cNvSpPr/>
          <p:nvPr/>
        </p:nvSpPr>
        <p:spPr>
          <a:xfrm>
            <a:off x="3314884" y="4367319"/>
            <a:ext cx="1586812" cy="611372"/>
          </a:xfrm>
          <a:prstGeom prst="rect">
            <a:avLst/>
          </a:prstGeom>
          <a:noFill/>
          <a:ln/>
        </p:spPr>
        <p:txBody>
          <a:bodyPr wrap="square" lIns="0" tIns="0" rIns="0" bIns="0" rtlCol="0" anchor="t">
            <a:normAutofit/>
          </a:bodyPr>
          <a:lstStyle/>
          <a:p>
            <a:pPr marL="0" indent="0" algn="ctr">
              <a:lnSpc>
                <a:spcPct val="104000"/>
              </a:lnSpc>
              <a:buNone/>
            </a:pPr>
            <a:endParaRPr lang="en-US" sz="1900" dirty="0"/>
          </a:p>
        </p:txBody>
      </p:sp>
      <p:sp>
        <p:nvSpPr>
          <p:cNvPr id="7" name="Text 4"/>
          <p:cNvSpPr/>
          <p:nvPr/>
        </p:nvSpPr>
        <p:spPr>
          <a:xfrm>
            <a:off x="661475" y="5604966"/>
            <a:ext cx="10868745" cy="590550"/>
          </a:xfrm>
          <a:prstGeom prst="rect">
            <a:avLst/>
          </a:prstGeom>
          <a:noFill/>
          <a:ln/>
        </p:spPr>
        <p:txBody>
          <a:bodyPr wrap="square" lIns="0" tIns="0" rIns="0" bIns="0" rtlCol="0" anchor="t">
            <a:normAutofit/>
          </a:bodyPr>
          <a:lstStyle/>
          <a:p>
            <a:pPr marL="0" indent="0" algn="l">
              <a:lnSpc>
                <a:spcPct val="132000"/>
              </a:lnSpc>
              <a:buNone/>
            </a:pPr>
            <a:endParaRPr lang="en-US" sz="1450" dirty="0"/>
          </a:p>
        </p:txBody>
      </p:sp>
      <p:sp>
        <p:nvSpPr>
          <p:cNvPr id="9" name="TextBox 8">
            <a:extLst>
              <a:ext uri="{FF2B5EF4-FFF2-40B4-BE49-F238E27FC236}">
                <a16:creationId xmlns:a16="http://schemas.microsoft.com/office/drawing/2014/main" id="{E053C9F2-0FA9-815A-9B25-1CC13566253B}"/>
              </a:ext>
            </a:extLst>
          </p:cNvPr>
          <p:cNvSpPr txBox="1"/>
          <p:nvPr/>
        </p:nvSpPr>
        <p:spPr>
          <a:xfrm>
            <a:off x="0" y="76338"/>
            <a:ext cx="9873575" cy="646331"/>
          </a:xfrm>
          <a:prstGeom prst="rect">
            <a:avLst/>
          </a:prstGeom>
          <a:noFill/>
        </p:spPr>
        <p:txBody>
          <a:bodyPr wrap="square" rtlCol="0">
            <a:spAutoFit/>
          </a:bodyPr>
          <a:lstStyle/>
          <a:p>
            <a:r>
              <a:rPr lang="en-US" sz="3600" b="1" dirty="0">
                <a:latin typeface="Palatino Linotype" panose="02040502050505030304" pitchFamily="18" charset="0"/>
              </a:rPr>
              <a:t>Signal Processing: PPG to Scalogram</a:t>
            </a:r>
            <a:endParaRPr lang="en-US" sz="3600" b="1" kern="1200" dirty="0">
              <a:solidFill>
                <a:schemeClr val="tx1"/>
              </a:solidFill>
              <a:latin typeface="Palatino Linotype" panose="02040502050505030304" pitchFamily="18" charset="0"/>
            </a:endParaRPr>
          </a:p>
        </p:txBody>
      </p:sp>
      <p:sp>
        <p:nvSpPr>
          <p:cNvPr id="10" name="TextBox 9">
            <a:extLst>
              <a:ext uri="{FF2B5EF4-FFF2-40B4-BE49-F238E27FC236}">
                <a16:creationId xmlns:a16="http://schemas.microsoft.com/office/drawing/2014/main" id="{3AF0BB8C-9B83-E740-563D-8447C4539D6F}"/>
              </a:ext>
            </a:extLst>
          </p:cNvPr>
          <p:cNvSpPr txBox="1"/>
          <p:nvPr/>
        </p:nvSpPr>
        <p:spPr>
          <a:xfrm>
            <a:off x="0" y="820033"/>
            <a:ext cx="11234057" cy="923330"/>
          </a:xfrm>
          <a:prstGeom prst="rect">
            <a:avLst/>
          </a:prstGeom>
          <a:noFill/>
        </p:spPr>
        <p:txBody>
          <a:bodyPr wrap="square" rtlCol="0">
            <a:spAutoFit/>
          </a:bodyPr>
          <a:lstStyle/>
          <a:p>
            <a:r>
              <a:rPr lang="en-IN" dirty="0"/>
              <a:t> Raw PPG signals are transformed into scalogram images using the Continuous Wavelet Transform (CWT). Unlike the original waveform, scalograms represent both time and frequency information simultaneously, allowing the Vision Transformer to learn complex cardiovascular patterns that improve blood pressure estimation accuracy</a:t>
            </a:r>
          </a:p>
        </p:txBody>
      </p:sp>
      <p:pic>
        <p:nvPicPr>
          <p:cNvPr id="17" name="Picture 16">
            <a:extLst>
              <a:ext uri="{FF2B5EF4-FFF2-40B4-BE49-F238E27FC236}">
                <a16:creationId xmlns:a16="http://schemas.microsoft.com/office/drawing/2014/main" id="{92A05513-D710-E167-C799-12649330D255}"/>
              </a:ext>
            </a:extLst>
          </p:cNvPr>
          <p:cNvPicPr>
            <a:picLocks noChangeAspect="1"/>
          </p:cNvPicPr>
          <p:nvPr/>
        </p:nvPicPr>
        <p:blipFill>
          <a:blip r:embed="rId3"/>
          <a:stretch>
            <a:fillRect/>
          </a:stretch>
        </p:blipFill>
        <p:spPr>
          <a:xfrm>
            <a:off x="0" y="1840726"/>
            <a:ext cx="12192000" cy="50172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6A54B-ACFA-9738-4D6A-A8D706C0F2A2}"/>
              </a:ext>
            </a:extLst>
          </p:cNvPr>
          <p:cNvSpPr>
            <a:spLocks noGrp="1"/>
          </p:cNvSpPr>
          <p:nvPr>
            <p:ph type="title"/>
          </p:nvPr>
        </p:nvSpPr>
        <p:spPr>
          <a:xfrm>
            <a:off x="0" y="-566129"/>
            <a:ext cx="10741152" cy="1132258"/>
          </a:xfrm>
        </p:spPr>
        <p:txBody>
          <a:bodyPr>
            <a:normAutofit/>
          </a:bodyPr>
          <a:lstStyle/>
          <a:p>
            <a:r>
              <a:rPr lang="en-IN" sz="3600" dirty="0"/>
              <a:t>VISION TRANSFORMERS ARCHITECTURE:</a:t>
            </a:r>
          </a:p>
        </p:txBody>
      </p:sp>
      <p:sp>
        <p:nvSpPr>
          <p:cNvPr id="3" name="TextBox 2">
            <a:extLst>
              <a:ext uri="{FF2B5EF4-FFF2-40B4-BE49-F238E27FC236}">
                <a16:creationId xmlns:a16="http://schemas.microsoft.com/office/drawing/2014/main" id="{4806EFB5-7817-78C0-7E91-9AEAF5EFB20D}"/>
              </a:ext>
            </a:extLst>
          </p:cNvPr>
          <p:cNvSpPr txBox="1"/>
          <p:nvPr/>
        </p:nvSpPr>
        <p:spPr>
          <a:xfrm>
            <a:off x="185057" y="566129"/>
            <a:ext cx="3472543" cy="1200329"/>
          </a:xfrm>
          <a:prstGeom prst="rect">
            <a:avLst/>
          </a:prstGeom>
          <a:noFill/>
        </p:spPr>
        <p:txBody>
          <a:bodyPr wrap="square" rtlCol="0">
            <a:spAutoFit/>
          </a:bodyPr>
          <a:lstStyle/>
          <a:p>
            <a:pPr marL="285750" lvl="0" indent="-285750">
              <a:buFont typeface="Wingdings" panose="05000000000000000000" pitchFamily="2" charset="2"/>
              <a:buChar char="q"/>
            </a:pPr>
            <a:r>
              <a:rPr lang="en-IN" dirty="0"/>
              <a:t>Image split into patches </a:t>
            </a:r>
          </a:p>
          <a:p>
            <a:pPr marL="285750" lvl="0" indent="-285750">
              <a:buFont typeface="Wingdings" panose="05000000000000000000" pitchFamily="2" charset="2"/>
              <a:buChar char="q"/>
            </a:pPr>
            <a:r>
              <a:rPr lang="en-IN" dirty="0"/>
              <a:t>Transformer Encoder </a:t>
            </a:r>
          </a:p>
          <a:p>
            <a:pPr marL="285750" lvl="0" indent="-285750">
              <a:buFont typeface="Wingdings" panose="05000000000000000000" pitchFamily="2" charset="2"/>
              <a:buChar char="q"/>
            </a:pPr>
            <a:r>
              <a:rPr lang="en-IN" dirty="0"/>
              <a:t>Regression Head </a:t>
            </a:r>
          </a:p>
          <a:p>
            <a:pPr marL="285750" lvl="0" indent="-285750">
              <a:buFont typeface="Wingdings" panose="05000000000000000000" pitchFamily="2" charset="2"/>
              <a:buChar char="q"/>
            </a:pPr>
            <a:r>
              <a:rPr lang="en-IN" dirty="0"/>
              <a:t>SBP &amp; DBP Prediction </a:t>
            </a:r>
          </a:p>
        </p:txBody>
      </p:sp>
      <p:pic>
        <p:nvPicPr>
          <p:cNvPr id="5" name="Picture 4" descr="Vision Transformer (ViT) Architecture Showdown | by Saqib Khan | Medium">
            <a:extLst>
              <a:ext uri="{FF2B5EF4-FFF2-40B4-BE49-F238E27FC236}">
                <a16:creationId xmlns:a16="http://schemas.microsoft.com/office/drawing/2014/main" id="{553807B4-2512-0594-1E98-3D1BA0A5D613}"/>
              </a:ext>
            </a:extLst>
          </p:cNvPr>
          <p:cNvPicPr>
            <a:picLocks noChangeAspect="1"/>
          </p:cNvPicPr>
          <p:nvPr/>
        </p:nvPicPr>
        <p:blipFill>
          <a:blip r:embed="rId2"/>
          <a:stretch>
            <a:fillRect/>
          </a:stretch>
        </p:blipFill>
        <p:spPr>
          <a:xfrm>
            <a:off x="185057" y="2013856"/>
            <a:ext cx="6302829" cy="4637315"/>
          </a:xfrm>
          <a:prstGeom prst="rect">
            <a:avLst/>
          </a:prstGeom>
        </p:spPr>
      </p:pic>
      <p:pic>
        <p:nvPicPr>
          <p:cNvPr id="6" name="Picture 5" descr="Vision Transformers (ViT) Explained | AI Tutorial | Next Electronics">
            <a:extLst>
              <a:ext uri="{FF2B5EF4-FFF2-40B4-BE49-F238E27FC236}">
                <a16:creationId xmlns:a16="http://schemas.microsoft.com/office/drawing/2014/main" id="{F346D28D-4806-CCC7-2854-2394FB9D0B68}"/>
              </a:ext>
            </a:extLst>
          </p:cNvPr>
          <p:cNvPicPr>
            <a:picLocks noChangeAspect="1"/>
          </p:cNvPicPr>
          <p:nvPr/>
        </p:nvPicPr>
        <p:blipFill>
          <a:blip r:embed="rId3"/>
          <a:stretch>
            <a:fillRect/>
          </a:stretch>
        </p:blipFill>
        <p:spPr>
          <a:xfrm>
            <a:off x="6751863" y="2013856"/>
            <a:ext cx="5255079" cy="4637316"/>
          </a:xfrm>
          <a:prstGeom prst="rect">
            <a:avLst/>
          </a:prstGeom>
        </p:spPr>
      </p:pic>
    </p:spTree>
    <p:extLst>
      <p:ext uri="{BB962C8B-B14F-4D97-AF65-F5344CB8AC3E}">
        <p14:creationId xmlns:p14="http://schemas.microsoft.com/office/powerpoint/2010/main" val="3213765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4027C-EF9A-7231-9D85-5C3BDDFE5441}"/>
              </a:ext>
            </a:extLst>
          </p:cNvPr>
          <p:cNvSpPr>
            <a:spLocks noGrp="1"/>
          </p:cNvSpPr>
          <p:nvPr>
            <p:ph type="title"/>
          </p:nvPr>
        </p:nvSpPr>
        <p:spPr>
          <a:xfrm>
            <a:off x="0" y="-363583"/>
            <a:ext cx="10741152" cy="1132258"/>
          </a:xfrm>
        </p:spPr>
        <p:txBody>
          <a:bodyPr>
            <a:normAutofit/>
          </a:bodyPr>
          <a:lstStyle/>
          <a:p>
            <a:r>
              <a:rPr lang="en-IN" sz="3600" b="1" i="1" dirty="0">
                <a:latin typeface="Palatino Linotype" panose="02040502050505030304" pitchFamily="18" charset="0"/>
              </a:rPr>
              <a:t>Live Webcam-Based Finger Detection</a:t>
            </a:r>
          </a:p>
        </p:txBody>
      </p:sp>
      <p:sp>
        <p:nvSpPr>
          <p:cNvPr id="8" name="TextBox 7">
            <a:extLst>
              <a:ext uri="{FF2B5EF4-FFF2-40B4-BE49-F238E27FC236}">
                <a16:creationId xmlns:a16="http://schemas.microsoft.com/office/drawing/2014/main" id="{D8941000-943D-F901-609E-31776605B2FB}"/>
              </a:ext>
            </a:extLst>
          </p:cNvPr>
          <p:cNvSpPr txBox="1"/>
          <p:nvPr/>
        </p:nvSpPr>
        <p:spPr>
          <a:xfrm>
            <a:off x="-1" y="1404258"/>
            <a:ext cx="6760029" cy="461665"/>
          </a:xfrm>
          <a:prstGeom prst="rect">
            <a:avLst/>
          </a:prstGeom>
          <a:noFill/>
        </p:spPr>
        <p:txBody>
          <a:bodyPr wrap="square" rtlCol="0">
            <a:spAutoFit/>
          </a:bodyPr>
          <a:lstStyle/>
          <a:p>
            <a:pPr marL="285750" indent="-285750">
              <a:buFont typeface="Wingdings" panose="05000000000000000000" pitchFamily="2" charset="2"/>
              <a:buChar char="v"/>
            </a:pPr>
            <a:r>
              <a:rPr lang="en-IN" sz="2400" dirty="0"/>
              <a:t>Real-Time Finger-Based PPG Signal Acquisition</a:t>
            </a:r>
          </a:p>
        </p:txBody>
      </p:sp>
      <p:sp>
        <p:nvSpPr>
          <p:cNvPr id="9" name="TextBox 8">
            <a:extLst>
              <a:ext uri="{FF2B5EF4-FFF2-40B4-BE49-F238E27FC236}">
                <a16:creationId xmlns:a16="http://schemas.microsoft.com/office/drawing/2014/main" id="{A2CA6B20-66BA-BC06-670F-2E934605808A}"/>
              </a:ext>
            </a:extLst>
          </p:cNvPr>
          <p:cNvSpPr txBox="1"/>
          <p:nvPr/>
        </p:nvSpPr>
        <p:spPr>
          <a:xfrm>
            <a:off x="76200" y="2501506"/>
            <a:ext cx="7064829" cy="4247317"/>
          </a:xfrm>
          <a:prstGeom prst="rect">
            <a:avLst/>
          </a:prstGeom>
          <a:noFill/>
        </p:spPr>
        <p:txBody>
          <a:bodyPr wrap="square" rtlCol="0">
            <a:spAutoFit/>
          </a:bodyPr>
          <a:lstStyle/>
          <a:p>
            <a:r>
              <a:rPr lang="en-IN"/>
              <a:t>User Places Finger on Webcam</a:t>
            </a:r>
          </a:p>
          <a:p>
            <a:r>
              <a:rPr lang="en-IN"/>
              <a:t>            ↓</a:t>
            </a:r>
          </a:p>
          <a:p>
            <a:r>
              <a:rPr lang="en-IN"/>
              <a:t> Live Video Capture</a:t>
            </a:r>
          </a:p>
          <a:p>
            <a:r>
              <a:rPr lang="en-IN"/>
              <a:t>            ↓</a:t>
            </a:r>
          </a:p>
          <a:p>
            <a:r>
              <a:rPr lang="en-IN"/>
              <a:t> Finger Detection &amp; ROI Extraction</a:t>
            </a:r>
          </a:p>
          <a:p>
            <a:r>
              <a:rPr lang="en-IN"/>
              <a:t>            ↓</a:t>
            </a:r>
          </a:p>
          <a:p>
            <a:r>
              <a:rPr lang="en-IN"/>
              <a:t> PPG Signal Extraction</a:t>
            </a:r>
          </a:p>
          <a:p>
            <a:r>
              <a:rPr lang="en-IN"/>
              <a:t>            ↓</a:t>
            </a:r>
          </a:p>
          <a:p>
            <a:r>
              <a:rPr lang="en-IN"/>
              <a:t> Signal Preprocessing</a:t>
            </a:r>
          </a:p>
          <a:p>
            <a:r>
              <a:rPr lang="en-IN"/>
              <a:t>            ↓</a:t>
            </a:r>
          </a:p>
          <a:p>
            <a:r>
              <a:rPr lang="en-IN"/>
              <a:t> Scalogram Generation (CWT)</a:t>
            </a:r>
          </a:p>
          <a:p>
            <a:r>
              <a:rPr lang="en-IN"/>
              <a:t>            ↓</a:t>
            </a:r>
          </a:p>
          <a:p>
            <a:r>
              <a:rPr lang="en-IN"/>
              <a:t> Vision Transformer Model</a:t>
            </a:r>
          </a:p>
          <a:p>
            <a:r>
              <a:rPr lang="en-IN"/>
              <a:t>            ↓</a:t>
            </a:r>
          </a:p>
          <a:p>
            <a:r>
              <a:rPr lang="en-IN"/>
              <a:t> SBP &amp; DBP Prediction</a:t>
            </a:r>
            <a:endParaRPr lang="en-IN" dirty="0"/>
          </a:p>
        </p:txBody>
      </p:sp>
      <p:sp>
        <p:nvSpPr>
          <p:cNvPr id="10" name="TextBox 9">
            <a:extLst>
              <a:ext uri="{FF2B5EF4-FFF2-40B4-BE49-F238E27FC236}">
                <a16:creationId xmlns:a16="http://schemas.microsoft.com/office/drawing/2014/main" id="{DC9ED61A-3E3C-566F-1A3C-C3B3252383FE}"/>
              </a:ext>
            </a:extLst>
          </p:cNvPr>
          <p:cNvSpPr txBox="1"/>
          <p:nvPr/>
        </p:nvSpPr>
        <p:spPr>
          <a:xfrm>
            <a:off x="3048" y="1922104"/>
            <a:ext cx="3048000" cy="523220"/>
          </a:xfrm>
          <a:prstGeom prst="rect">
            <a:avLst/>
          </a:prstGeom>
          <a:noFill/>
        </p:spPr>
        <p:txBody>
          <a:bodyPr wrap="square" rtlCol="0">
            <a:spAutoFit/>
          </a:bodyPr>
          <a:lstStyle/>
          <a:p>
            <a:r>
              <a:rPr lang="en-IN" sz="2800" dirty="0">
                <a:latin typeface="Palatino Linotype" panose="02040502050505030304" pitchFamily="18" charset="0"/>
              </a:rPr>
              <a:t>Workflow:</a:t>
            </a:r>
          </a:p>
        </p:txBody>
      </p:sp>
      <p:pic>
        <p:nvPicPr>
          <p:cNvPr id="11" name="Picture 10" descr="Thumb covers up the webcam of a computer.">
            <a:extLst>
              <a:ext uri="{FF2B5EF4-FFF2-40B4-BE49-F238E27FC236}">
                <a16:creationId xmlns:a16="http://schemas.microsoft.com/office/drawing/2014/main" id="{EA73EC8C-1C89-C54C-2890-5242E4A1DAE3}"/>
              </a:ext>
            </a:extLst>
          </p:cNvPr>
          <p:cNvPicPr>
            <a:picLocks noChangeAspect="1"/>
          </p:cNvPicPr>
          <p:nvPr/>
        </p:nvPicPr>
        <p:blipFill>
          <a:blip r:embed="rId2"/>
          <a:stretch>
            <a:fillRect/>
          </a:stretch>
        </p:blipFill>
        <p:spPr>
          <a:xfrm>
            <a:off x="3592286" y="2063881"/>
            <a:ext cx="3722914" cy="4347805"/>
          </a:xfrm>
          <a:prstGeom prst="rect">
            <a:avLst/>
          </a:prstGeom>
        </p:spPr>
      </p:pic>
      <p:pic>
        <p:nvPicPr>
          <p:cNvPr id="12" name="Picture 11" descr="GitHub - avinashhsinghh/Heart-Rate-Detection: Heart Rate Detection using Web Camera">
            <a:extLst>
              <a:ext uri="{FF2B5EF4-FFF2-40B4-BE49-F238E27FC236}">
                <a16:creationId xmlns:a16="http://schemas.microsoft.com/office/drawing/2014/main" id="{919C647A-3373-4E19-74A0-2BFBE4441C19}"/>
              </a:ext>
            </a:extLst>
          </p:cNvPr>
          <p:cNvPicPr>
            <a:picLocks noChangeAspect="1"/>
          </p:cNvPicPr>
          <p:nvPr/>
        </p:nvPicPr>
        <p:blipFill>
          <a:blip r:embed="rId3"/>
          <a:stretch>
            <a:fillRect/>
          </a:stretch>
        </p:blipFill>
        <p:spPr>
          <a:xfrm>
            <a:off x="7478486" y="2063881"/>
            <a:ext cx="4441372" cy="4347805"/>
          </a:xfrm>
          <a:prstGeom prst="rect">
            <a:avLst/>
          </a:prstGeom>
        </p:spPr>
      </p:pic>
    </p:spTree>
    <p:extLst>
      <p:ext uri="{BB962C8B-B14F-4D97-AF65-F5344CB8AC3E}">
        <p14:creationId xmlns:p14="http://schemas.microsoft.com/office/powerpoint/2010/main" val="3842157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0868745" cy="590649"/>
          </a:xfrm>
          <a:prstGeom prst="rect">
            <a:avLst/>
          </a:prstGeom>
          <a:noFill/>
          <a:ln/>
        </p:spPr>
        <p:txBody>
          <a:bodyPr wrap="none" lIns="0" tIns="0" rIns="0" bIns="0" rtlCol="0" anchor="t"/>
          <a:lstStyle/>
          <a:p>
            <a:pPr marL="0" indent="0" algn="l">
              <a:lnSpc>
                <a:spcPct val="104000"/>
              </a:lnSpc>
              <a:buNone/>
            </a:pPr>
            <a:r>
              <a:rPr lang="en-US" sz="4000" b="1" dirty="0">
                <a:solidFill>
                  <a:srgbClr val="1B1B27"/>
                </a:solidFill>
                <a:latin typeface="Palatino Linotype" panose="02040502050505030304" pitchFamily="18" charset="0"/>
                <a:ea typeface="Raleway" pitchFamily="34" charset="-122"/>
                <a:cs typeface="Raleway" pitchFamily="34" charset="-120"/>
              </a:rPr>
              <a:t>Results &amp; Performance</a:t>
            </a:r>
            <a:endParaRPr lang="en-US" sz="4000" b="1" dirty="0">
              <a:latin typeface="Palatino Linotype" panose="02040502050505030304" pitchFamily="18" charset="0"/>
            </a:endParaRPr>
          </a:p>
        </p:txBody>
      </p:sp>
      <p:sp>
        <p:nvSpPr>
          <p:cNvPr id="4" name="Text 2"/>
          <p:cNvSpPr/>
          <p:nvPr/>
        </p:nvSpPr>
        <p:spPr>
          <a:xfrm>
            <a:off x="661475" y="3475038"/>
            <a:ext cx="3465426" cy="295275"/>
          </a:xfrm>
          <a:prstGeom prst="rect">
            <a:avLst/>
          </a:prstGeom>
          <a:noFill/>
          <a:ln/>
        </p:spPr>
        <p:txBody>
          <a:bodyPr wrap="none" lIns="0" tIns="0" rIns="0" bIns="0" rtlCol="0" anchor="t"/>
          <a:lstStyle/>
          <a:p>
            <a:pPr marL="0" indent="0" algn="ctr">
              <a:lnSpc>
                <a:spcPct val="104000"/>
              </a:lnSpc>
              <a:buNone/>
            </a:pPr>
            <a:endParaRPr lang="en-US" sz="1850" dirty="0"/>
          </a:p>
        </p:txBody>
      </p:sp>
      <p:sp>
        <p:nvSpPr>
          <p:cNvPr id="5" name="Text 3"/>
          <p:cNvSpPr/>
          <p:nvPr/>
        </p:nvSpPr>
        <p:spPr>
          <a:xfrm>
            <a:off x="661475" y="3883720"/>
            <a:ext cx="3465426" cy="604838"/>
          </a:xfrm>
          <a:prstGeom prst="rect">
            <a:avLst/>
          </a:prstGeom>
          <a:noFill/>
          <a:ln/>
        </p:spPr>
        <p:txBody>
          <a:bodyPr wrap="square" lIns="0" tIns="0" rIns="0" bIns="0" rtlCol="0" anchor="t">
            <a:normAutofit/>
          </a:bodyPr>
          <a:lstStyle/>
          <a:p>
            <a:pPr marL="0" indent="0" algn="ctr">
              <a:lnSpc>
                <a:spcPct val="133000"/>
              </a:lnSpc>
              <a:buNone/>
            </a:pPr>
            <a:endParaRPr lang="en-US" sz="1450" dirty="0"/>
          </a:p>
        </p:txBody>
      </p:sp>
      <p:sp>
        <p:nvSpPr>
          <p:cNvPr id="6" name="Text 4"/>
          <p:cNvSpPr/>
          <p:nvPr/>
        </p:nvSpPr>
        <p:spPr>
          <a:xfrm>
            <a:off x="4363135" y="2615109"/>
            <a:ext cx="3465426" cy="623788"/>
          </a:xfrm>
          <a:prstGeom prst="rect">
            <a:avLst/>
          </a:prstGeom>
          <a:noFill/>
          <a:ln/>
        </p:spPr>
        <p:txBody>
          <a:bodyPr wrap="none" lIns="0" tIns="0" rIns="0" bIns="0" rtlCol="0" anchor="t"/>
          <a:lstStyle/>
          <a:p>
            <a:pPr marL="0" indent="0" algn="ctr">
              <a:lnSpc>
                <a:spcPct val="83000"/>
              </a:lnSpc>
              <a:buNone/>
            </a:pPr>
            <a:endParaRPr lang="en-US" sz="4900" dirty="0"/>
          </a:p>
        </p:txBody>
      </p:sp>
      <p:sp>
        <p:nvSpPr>
          <p:cNvPr id="7" name="Text 5"/>
          <p:cNvSpPr/>
          <p:nvPr/>
        </p:nvSpPr>
        <p:spPr>
          <a:xfrm>
            <a:off x="4363135" y="3475038"/>
            <a:ext cx="3465426" cy="295275"/>
          </a:xfrm>
          <a:prstGeom prst="rect">
            <a:avLst/>
          </a:prstGeom>
          <a:noFill/>
          <a:ln/>
        </p:spPr>
        <p:txBody>
          <a:bodyPr wrap="none" lIns="0" tIns="0" rIns="0" bIns="0" rtlCol="0" anchor="t"/>
          <a:lstStyle/>
          <a:p>
            <a:pPr marL="0" indent="0" algn="ctr">
              <a:lnSpc>
                <a:spcPct val="104000"/>
              </a:lnSpc>
              <a:buNone/>
            </a:pPr>
            <a:endParaRPr lang="en-US" sz="1850" dirty="0"/>
          </a:p>
        </p:txBody>
      </p:sp>
      <p:sp>
        <p:nvSpPr>
          <p:cNvPr id="8" name="Text 6"/>
          <p:cNvSpPr/>
          <p:nvPr/>
        </p:nvSpPr>
        <p:spPr>
          <a:xfrm>
            <a:off x="4363135" y="3883720"/>
            <a:ext cx="3465426" cy="604838"/>
          </a:xfrm>
          <a:prstGeom prst="rect">
            <a:avLst/>
          </a:prstGeom>
          <a:noFill/>
          <a:ln/>
        </p:spPr>
        <p:txBody>
          <a:bodyPr wrap="square" lIns="0" tIns="0" rIns="0" bIns="0" rtlCol="0" anchor="t">
            <a:normAutofit/>
          </a:bodyPr>
          <a:lstStyle/>
          <a:p>
            <a:pPr marL="0" indent="0" algn="ctr">
              <a:lnSpc>
                <a:spcPct val="133000"/>
              </a:lnSpc>
              <a:buNone/>
            </a:pPr>
            <a:endParaRPr lang="en-US" sz="1450" dirty="0"/>
          </a:p>
        </p:txBody>
      </p:sp>
      <p:sp>
        <p:nvSpPr>
          <p:cNvPr id="9" name="Text 7"/>
          <p:cNvSpPr/>
          <p:nvPr/>
        </p:nvSpPr>
        <p:spPr>
          <a:xfrm>
            <a:off x="8064794" y="2615109"/>
            <a:ext cx="3465426" cy="623788"/>
          </a:xfrm>
          <a:prstGeom prst="rect">
            <a:avLst/>
          </a:prstGeom>
          <a:noFill/>
          <a:ln/>
        </p:spPr>
        <p:txBody>
          <a:bodyPr wrap="none" lIns="0" tIns="0" rIns="0" bIns="0" rtlCol="0" anchor="t"/>
          <a:lstStyle/>
          <a:p>
            <a:pPr marL="0" indent="0" algn="ctr">
              <a:lnSpc>
                <a:spcPct val="83000"/>
              </a:lnSpc>
              <a:buNone/>
            </a:pPr>
            <a:endParaRPr lang="en-US" sz="4900" dirty="0"/>
          </a:p>
        </p:txBody>
      </p:sp>
      <p:sp>
        <p:nvSpPr>
          <p:cNvPr id="10" name="Text 8"/>
          <p:cNvSpPr/>
          <p:nvPr/>
        </p:nvSpPr>
        <p:spPr>
          <a:xfrm>
            <a:off x="8064794" y="3475038"/>
            <a:ext cx="3465426" cy="295275"/>
          </a:xfrm>
          <a:prstGeom prst="rect">
            <a:avLst/>
          </a:prstGeom>
          <a:noFill/>
          <a:ln/>
        </p:spPr>
        <p:txBody>
          <a:bodyPr wrap="none" lIns="0" tIns="0" rIns="0" bIns="0" rtlCol="0" anchor="t"/>
          <a:lstStyle/>
          <a:p>
            <a:pPr marL="0" indent="0" algn="ctr">
              <a:lnSpc>
                <a:spcPct val="104000"/>
              </a:lnSpc>
              <a:buNone/>
            </a:pPr>
            <a:endParaRPr lang="en-US" sz="1850" dirty="0"/>
          </a:p>
        </p:txBody>
      </p:sp>
      <p:sp>
        <p:nvSpPr>
          <p:cNvPr id="11" name="Text 9"/>
          <p:cNvSpPr/>
          <p:nvPr/>
        </p:nvSpPr>
        <p:spPr>
          <a:xfrm>
            <a:off x="8064794" y="3883720"/>
            <a:ext cx="3465426" cy="604838"/>
          </a:xfrm>
          <a:prstGeom prst="rect">
            <a:avLst/>
          </a:prstGeom>
          <a:noFill/>
          <a:ln/>
        </p:spPr>
        <p:txBody>
          <a:bodyPr wrap="square" lIns="0" tIns="0" rIns="0" bIns="0" rtlCol="0" anchor="t">
            <a:normAutofit/>
          </a:bodyPr>
          <a:lstStyle/>
          <a:p>
            <a:pPr marL="0" indent="0" algn="ctr">
              <a:lnSpc>
                <a:spcPct val="133000"/>
              </a:lnSpc>
              <a:buNone/>
            </a:pPr>
            <a:endParaRPr lang="en-US" sz="1450" dirty="0"/>
          </a:p>
        </p:txBody>
      </p:sp>
      <p:sp>
        <p:nvSpPr>
          <p:cNvPr id="12" name="Text 10"/>
          <p:cNvSpPr/>
          <p:nvPr/>
        </p:nvSpPr>
        <p:spPr>
          <a:xfrm>
            <a:off x="661475" y="4701183"/>
            <a:ext cx="10868745" cy="604838"/>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4" name="TextBox 13">
            <a:extLst>
              <a:ext uri="{FF2B5EF4-FFF2-40B4-BE49-F238E27FC236}">
                <a16:creationId xmlns:a16="http://schemas.microsoft.com/office/drawing/2014/main" id="{F4917A3F-B1B3-E20F-F756-B16DB6DCCA86}"/>
              </a:ext>
            </a:extLst>
          </p:cNvPr>
          <p:cNvSpPr txBox="1"/>
          <p:nvPr/>
        </p:nvSpPr>
        <p:spPr>
          <a:xfrm>
            <a:off x="-58806" y="590649"/>
            <a:ext cx="10107158" cy="1200329"/>
          </a:xfrm>
          <a:prstGeom prst="rect">
            <a:avLst/>
          </a:prstGeom>
          <a:noFill/>
        </p:spPr>
        <p:txBody>
          <a:bodyPr wrap="square">
            <a:spAutoFit/>
          </a:bodyPr>
          <a:lstStyle/>
          <a:p>
            <a:r>
              <a:rPr lang="en-IN" dirty="0"/>
              <a:t>The proposed model achieved clinically acceptable prediction accuracy with low Mean Absolute Error and Root Mean Squared Error, while maintaining a high R² Score. Scatter plots comparing actual and predicted blood pressure values demonstrate strong agreement, indicating that the Vision Transformer successfully captures meaningful cardiovascular information from PPG-derived scalograms.</a:t>
            </a:r>
          </a:p>
        </p:txBody>
      </p:sp>
      <p:pic>
        <p:nvPicPr>
          <p:cNvPr id="18" name="Picture 17">
            <a:extLst>
              <a:ext uri="{FF2B5EF4-FFF2-40B4-BE49-F238E27FC236}">
                <a16:creationId xmlns:a16="http://schemas.microsoft.com/office/drawing/2014/main" id="{F07F8925-2C0B-AF3C-9ADD-573FDF8473AE}"/>
              </a:ext>
            </a:extLst>
          </p:cNvPr>
          <p:cNvPicPr>
            <a:picLocks noChangeAspect="1"/>
          </p:cNvPicPr>
          <p:nvPr/>
        </p:nvPicPr>
        <p:blipFill>
          <a:blip r:embed="rId3"/>
          <a:stretch>
            <a:fillRect/>
          </a:stretch>
        </p:blipFill>
        <p:spPr>
          <a:xfrm>
            <a:off x="408556" y="2156817"/>
            <a:ext cx="5165393" cy="42829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AE64-11AA-1E8F-5349-FD954C326A09}"/>
              </a:ext>
            </a:extLst>
          </p:cNvPr>
          <p:cNvSpPr>
            <a:spLocks noGrp="1"/>
          </p:cNvSpPr>
          <p:nvPr>
            <p:ph type="title"/>
          </p:nvPr>
        </p:nvSpPr>
        <p:spPr>
          <a:xfrm>
            <a:off x="0" y="-394922"/>
            <a:ext cx="10741152" cy="1132258"/>
          </a:xfrm>
        </p:spPr>
        <p:txBody>
          <a:bodyPr/>
          <a:lstStyle/>
          <a:p>
            <a:r>
              <a:rPr lang="en-IN" dirty="0"/>
              <a:t>DASHBOARD:</a:t>
            </a:r>
          </a:p>
        </p:txBody>
      </p:sp>
      <p:pic>
        <p:nvPicPr>
          <p:cNvPr id="4" name="Picture 3">
            <a:extLst>
              <a:ext uri="{FF2B5EF4-FFF2-40B4-BE49-F238E27FC236}">
                <a16:creationId xmlns:a16="http://schemas.microsoft.com/office/drawing/2014/main" id="{AEF6A738-DF25-35FE-EA1D-2AF2D68F9CB7}"/>
              </a:ext>
            </a:extLst>
          </p:cNvPr>
          <p:cNvPicPr>
            <a:picLocks noChangeAspect="1"/>
          </p:cNvPicPr>
          <p:nvPr/>
        </p:nvPicPr>
        <p:blipFill>
          <a:blip r:embed="rId2"/>
          <a:stretch>
            <a:fillRect/>
          </a:stretch>
        </p:blipFill>
        <p:spPr>
          <a:xfrm>
            <a:off x="234247" y="1917206"/>
            <a:ext cx="11566187" cy="4837555"/>
          </a:xfrm>
          <a:prstGeom prst="rect">
            <a:avLst/>
          </a:prstGeom>
        </p:spPr>
      </p:pic>
    </p:spTree>
    <p:extLst>
      <p:ext uri="{BB962C8B-B14F-4D97-AF65-F5344CB8AC3E}">
        <p14:creationId xmlns:p14="http://schemas.microsoft.com/office/powerpoint/2010/main" val="1066730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083470-410C-134D-27D2-7DCF7B38B178}"/>
              </a:ext>
            </a:extLst>
          </p:cNvPr>
          <p:cNvSpPr txBox="1"/>
          <p:nvPr/>
        </p:nvSpPr>
        <p:spPr>
          <a:xfrm>
            <a:off x="0" y="49709"/>
            <a:ext cx="2904962" cy="769441"/>
          </a:xfrm>
          <a:prstGeom prst="rect">
            <a:avLst/>
          </a:prstGeom>
          <a:noFill/>
        </p:spPr>
        <p:txBody>
          <a:bodyPr wrap="none" rtlCol="0">
            <a:spAutoFit/>
          </a:bodyPr>
          <a:lstStyle/>
          <a:p>
            <a:r>
              <a:rPr lang="en-IN" sz="4400" dirty="0"/>
              <a:t>OUTPUTS:</a:t>
            </a:r>
          </a:p>
        </p:txBody>
      </p:sp>
      <p:pic>
        <p:nvPicPr>
          <p:cNvPr id="4" name="Picture 3">
            <a:extLst>
              <a:ext uri="{FF2B5EF4-FFF2-40B4-BE49-F238E27FC236}">
                <a16:creationId xmlns:a16="http://schemas.microsoft.com/office/drawing/2014/main" id="{121FCAAF-A5BE-8523-E158-A91A774910E5}"/>
              </a:ext>
            </a:extLst>
          </p:cNvPr>
          <p:cNvPicPr>
            <a:picLocks noChangeAspect="1"/>
          </p:cNvPicPr>
          <p:nvPr/>
        </p:nvPicPr>
        <p:blipFill>
          <a:blip r:embed="rId2"/>
          <a:stretch>
            <a:fillRect/>
          </a:stretch>
        </p:blipFill>
        <p:spPr>
          <a:xfrm>
            <a:off x="1306683" y="1005112"/>
            <a:ext cx="8275468" cy="2771089"/>
          </a:xfrm>
          <a:prstGeom prst="rect">
            <a:avLst/>
          </a:prstGeom>
        </p:spPr>
      </p:pic>
      <p:pic>
        <p:nvPicPr>
          <p:cNvPr id="6" name="Picture 5">
            <a:extLst>
              <a:ext uri="{FF2B5EF4-FFF2-40B4-BE49-F238E27FC236}">
                <a16:creationId xmlns:a16="http://schemas.microsoft.com/office/drawing/2014/main" id="{5C16AF0C-BACC-F21A-8784-CA58D2F67190}"/>
              </a:ext>
            </a:extLst>
          </p:cNvPr>
          <p:cNvPicPr>
            <a:picLocks noChangeAspect="1"/>
          </p:cNvPicPr>
          <p:nvPr/>
        </p:nvPicPr>
        <p:blipFill>
          <a:blip r:embed="rId3"/>
          <a:stretch>
            <a:fillRect/>
          </a:stretch>
        </p:blipFill>
        <p:spPr>
          <a:xfrm>
            <a:off x="1306683" y="3923421"/>
            <a:ext cx="8275468" cy="2934579"/>
          </a:xfrm>
          <a:prstGeom prst="rect">
            <a:avLst/>
          </a:prstGeom>
        </p:spPr>
      </p:pic>
    </p:spTree>
    <p:extLst>
      <p:ext uri="{BB962C8B-B14F-4D97-AF65-F5344CB8AC3E}">
        <p14:creationId xmlns:p14="http://schemas.microsoft.com/office/powerpoint/2010/main" val="3243898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0060C5-7F7C-2FA4-F868-0676C1D09154}"/>
              </a:ext>
            </a:extLst>
          </p:cNvPr>
          <p:cNvPicPr>
            <a:picLocks noChangeAspect="1"/>
          </p:cNvPicPr>
          <p:nvPr/>
        </p:nvPicPr>
        <p:blipFill>
          <a:blip r:embed="rId2"/>
          <a:stretch>
            <a:fillRect/>
          </a:stretch>
        </p:blipFill>
        <p:spPr>
          <a:xfrm>
            <a:off x="200025" y="413385"/>
            <a:ext cx="11753850" cy="5863590"/>
          </a:xfrm>
          <a:prstGeom prst="rect">
            <a:avLst/>
          </a:prstGeom>
        </p:spPr>
      </p:pic>
    </p:spTree>
    <p:extLst>
      <p:ext uri="{BB962C8B-B14F-4D97-AF65-F5344CB8AC3E}">
        <p14:creationId xmlns:p14="http://schemas.microsoft.com/office/powerpoint/2010/main" val="4007451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0CD12E-DA8A-23DB-7AAC-554B0DAA6ED8}"/>
              </a:ext>
            </a:extLst>
          </p:cNvPr>
          <p:cNvSpPr txBox="1"/>
          <p:nvPr/>
        </p:nvSpPr>
        <p:spPr>
          <a:xfrm>
            <a:off x="0" y="0"/>
            <a:ext cx="6708913" cy="707886"/>
          </a:xfrm>
          <a:prstGeom prst="rect">
            <a:avLst/>
          </a:prstGeom>
          <a:noFill/>
        </p:spPr>
        <p:txBody>
          <a:bodyPr wrap="square" rtlCol="0">
            <a:spAutoFit/>
          </a:bodyPr>
          <a:lstStyle/>
          <a:p>
            <a:r>
              <a:rPr lang="en-US" sz="4000" dirty="0"/>
              <a:t>Advantages and applications:</a:t>
            </a:r>
            <a:endParaRPr lang="en-IN" sz="4000" dirty="0"/>
          </a:p>
        </p:txBody>
      </p:sp>
      <p:sp>
        <p:nvSpPr>
          <p:cNvPr id="4" name="TextBox 3">
            <a:extLst>
              <a:ext uri="{FF2B5EF4-FFF2-40B4-BE49-F238E27FC236}">
                <a16:creationId xmlns:a16="http://schemas.microsoft.com/office/drawing/2014/main" id="{FD293D17-609B-6648-DF4C-0EBBABF3910D}"/>
              </a:ext>
            </a:extLst>
          </p:cNvPr>
          <p:cNvSpPr txBox="1"/>
          <p:nvPr/>
        </p:nvSpPr>
        <p:spPr>
          <a:xfrm>
            <a:off x="39426" y="707886"/>
            <a:ext cx="10089312" cy="1200329"/>
          </a:xfrm>
          <a:prstGeom prst="rect">
            <a:avLst/>
          </a:prstGeom>
          <a:noFill/>
        </p:spPr>
        <p:txBody>
          <a:bodyPr wrap="square" rtlCol="0">
            <a:spAutoFit/>
          </a:bodyPr>
          <a:lstStyle/>
          <a:p>
            <a:r>
              <a:rPr lang="en-IN" dirty="0"/>
              <a:t>The proposed system has wide-ranging applications in hospitals, home healthcare, telemedicine, wearable devices, and smart health monitoring systems. By enabling continuous, non-invasive blood pressure estimation, it supports early disease detection, remote patient monitoring, and personalized healthcare while reducing dependence on traditional cuff-based devices.</a:t>
            </a:r>
          </a:p>
        </p:txBody>
      </p:sp>
      <p:sp>
        <p:nvSpPr>
          <p:cNvPr id="5" name="TextBox 4">
            <a:extLst>
              <a:ext uri="{FF2B5EF4-FFF2-40B4-BE49-F238E27FC236}">
                <a16:creationId xmlns:a16="http://schemas.microsoft.com/office/drawing/2014/main" id="{736F5527-EBCC-3C4F-2643-4BDBC4D75FA1}"/>
              </a:ext>
            </a:extLst>
          </p:cNvPr>
          <p:cNvSpPr txBox="1"/>
          <p:nvPr/>
        </p:nvSpPr>
        <p:spPr>
          <a:xfrm>
            <a:off x="140677" y="1898372"/>
            <a:ext cx="4119824" cy="4185761"/>
          </a:xfrm>
          <a:prstGeom prst="rect">
            <a:avLst/>
          </a:prstGeom>
          <a:noFill/>
        </p:spPr>
        <p:txBody>
          <a:bodyPr wrap="square" rtlCol="0">
            <a:spAutoFit/>
          </a:bodyPr>
          <a:lstStyle/>
          <a:p>
            <a:pPr lvl="0"/>
            <a:r>
              <a:rPr lang="en-IN" sz="3200" dirty="0"/>
              <a:t>Applications:</a:t>
            </a:r>
          </a:p>
          <a:p>
            <a:pPr lvl="0"/>
            <a:endParaRPr lang="en-IN" dirty="0"/>
          </a:p>
          <a:p>
            <a:pPr lvl="0"/>
            <a:r>
              <a:rPr lang="en-IN" dirty="0"/>
              <a:t>🏥 </a:t>
            </a:r>
            <a:r>
              <a:rPr lang="en-IN" b="1" dirty="0"/>
              <a:t>Hospital &amp; ICU Monitoring</a:t>
            </a:r>
            <a:endParaRPr lang="en-IN" dirty="0"/>
          </a:p>
          <a:p>
            <a:pPr lvl="0"/>
            <a:r>
              <a:rPr lang="en-IN" dirty="0"/>
              <a:t>🏠 </a:t>
            </a:r>
            <a:r>
              <a:rPr lang="en-IN" b="1" dirty="0"/>
              <a:t>Home Healthcare</a:t>
            </a:r>
            <a:endParaRPr lang="en-IN" dirty="0"/>
          </a:p>
          <a:p>
            <a:pPr lvl="0"/>
            <a:r>
              <a:rPr lang="en-IN" dirty="0"/>
              <a:t>👴 </a:t>
            </a:r>
            <a:r>
              <a:rPr lang="en-IN" b="1" dirty="0"/>
              <a:t>Elderly Care</a:t>
            </a:r>
            <a:endParaRPr lang="en-IN" dirty="0"/>
          </a:p>
          <a:p>
            <a:pPr lvl="0"/>
            <a:r>
              <a:rPr lang="en-IN" dirty="0"/>
              <a:t>📱 </a:t>
            </a:r>
            <a:r>
              <a:rPr lang="en-IN" b="1" dirty="0"/>
              <a:t>Telemedicine</a:t>
            </a:r>
            <a:endParaRPr lang="en-IN" dirty="0"/>
          </a:p>
          <a:p>
            <a:pPr lvl="0"/>
            <a:r>
              <a:rPr lang="en-IN" dirty="0"/>
              <a:t>⌚ </a:t>
            </a:r>
            <a:r>
              <a:rPr lang="en-IN" b="1" dirty="0"/>
              <a:t>Wearable Devices</a:t>
            </a:r>
            <a:endParaRPr lang="en-IN" dirty="0"/>
          </a:p>
          <a:p>
            <a:pPr lvl="0"/>
            <a:r>
              <a:rPr lang="en-IN" dirty="0"/>
              <a:t>❤️ </a:t>
            </a:r>
            <a:r>
              <a:rPr lang="en-IN" b="1" dirty="0"/>
              <a:t>Hypertension Management</a:t>
            </a:r>
            <a:endParaRPr lang="en-IN" dirty="0"/>
          </a:p>
          <a:p>
            <a:pPr lvl="0"/>
            <a:r>
              <a:rPr lang="en-IN" dirty="0"/>
              <a:t>🚑 </a:t>
            </a:r>
            <a:r>
              <a:rPr lang="en-IN" b="1" dirty="0"/>
              <a:t>Emergency Healthcare</a:t>
            </a:r>
            <a:endParaRPr lang="en-IN" dirty="0"/>
          </a:p>
          <a:p>
            <a:pPr lvl="0"/>
            <a:r>
              <a:rPr lang="en-IN" dirty="0"/>
              <a:t>🌍 </a:t>
            </a:r>
            <a:r>
              <a:rPr lang="en-IN" b="1" dirty="0"/>
              <a:t>Rural Healthcare</a:t>
            </a:r>
            <a:endParaRPr lang="en-IN" dirty="0"/>
          </a:p>
          <a:p>
            <a:pPr lvl="0"/>
            <a:r>
              <a:rPr lang="en-IN" dirty="0"/>
              <a:t>💪 </a:t>
            </a:r>
            <a:r>
              <a:rPr lang="en-IN" b="1" dirty="0"/>
              <a:t>Fitness &amp; Wellness</a:t>
            </a:r>
            <a:endParaRPr lang="en-IN" dirty="0"/>
          </a:p>
          <a:p>
            <a:pPr lvl="0"/>
            <a:r>
              <a:rPr lang="en-IN" dirty="0"/>
              <a:t>🔬 </a:t>
            </a:r>
            <a:r>
              <a:rPr lang="en-IN" b="1" dirty="0"/>
              <a:t>Medical Research</a:t>
            </a:r>
            <a:endParaRPr lang="en-IN" dirty="0"/>
          </a:p>
          <a:p>
            <a:pPr lvl="0"/>
            <a:r>
              <a:rPr lang="en-IN" dirty="0"/>
              <a:t>📊 </a:t>
            </a:r>
            <a:r>
              <a:rPr lang="en-IN" b="1" dirty="0"/>
              <a:t>Personal Health Tracking</a:t>
            </a:r>
            <a:endParaRPr lang="en-IN" dirty="0"/>
          </a:p>
          <a:p>
            <a:pPr lvl="0"/>
            <a:r>
              <a:rPr lang="en-IN" dirty="0"/>
              <a:t>🤖 </a:t>
            </a:r>
            <a:r>
              <a:rPr lang="en-IN" b="1" dirty="0"/>
              <a:t>Smart Healthcare Systems</a:t>
            </a:r>
            <a:r>
              <a:rPr lang="en-IN" dirty="0"/>
              <a:t> </a:t>
            </a:r>
          </a:p>
        </p:txBody>
      </p:sp>
      <p:pic>
        <p:nvPicPr>
          <p:cNvPr id="6" name="Picture 5" descr="Pros and Cons of AI in Healthcare">
            <a:extLst>
              <a:ext uri="{FF2B5EF4-FFF2-40B4-BE49-F238E27FC236}">
                <a16:creationId xmlns:a16="http://schemas.microsoft.com/office/drawing/2014/main" id="{444E109F-94DD-F134-A6E7-8585F1FD48AC}"/>
              </a:ext>
            </a:extLst>
          </p:cNvPr>
          <p:cNvPicPr>
            <a:picLocks noChangeAspect="1"/>
          </p:cNvPicPr>
          <p:nvPr/>
        </p:nvPicPr>
        <p:blipFill>
          <a:blip r:embed="rId2"/>
          <a:stretch>
            <a:fillRect/>
          </a:stretch>
        </p:blipFill>
        <p:spPr>
          <a:xfrm>
            <a:off x="3446585" y="2018952"/>
            <a:ext cx="8534400" cy="4657412"/>
          </a:xfrm>
          <a:prstGeom prst="rect">
            <a:avLst/>
          </a:prstGeom>
        </p:spPr>
      </p:pic>
    </p:spTree>
    <p:extLst>
      <p:ext uri="{BB962C8B-B14F-4D97-AF65-F5344CB8AC3E}">
        <p14:creationId xmlns:p14="http://schemas.microsoft.com/office/powerpoint/2010/main" val="122058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940733" y="605661"/>
            <a:ext cx="10868745" cy="561181"/>
          </a:xfrm>
          <a:prstGeom prst="rect">
            <a:avLst/>
          </a:prstGeom>
          <a:noFill/>
          <a:ln/>
        </p:spPr>
        <p:txBody>
          <a:bodyPr wrap="none" lIns="0" tIns="0" rIns="0" bIns="0" rtlCol="0" anchor="t"/>
          <a:lstStyle/>
          <a:p>
            <a:pPr marL="0" indent="0" algn="l">
              <a:lnSpc>
                <a:spcPct val="104000"/>
              </a:lnSpc>
              <a:buNone/>
            </a:pPr>
            <a:r>
              <a:rPr lang="en-US" sz="3500" b="1" dirty="0">
                <a:solidFill>
                  <a:srgbClr val="1B1B27"/>
                </a:solidFill>
                <a:latin typeface="Palatino Linotype" panose="02040502050505030304" pitchFamily="18" charset="0"/>
                <a:ea typeface="Raleway" pitchFamily="34" charset="-122"/>
                <a:cs typeface="Raleway" pitchFamily="34" charset="-120"/>
              </a:rPr>
              <a:t>Conclusion &amp; Future Scope</a:t>
            </a:r>
            <a:endParaRPr lang="en-US" sz="3500" b="1" dirty="0">
              <a:latin typeface="Palatino Linotype" panose="02040502050505030304" pitchFamily="18" charset="0"/>
            </a:endParaRPr>
          </a:p>
        </p:txBody>
      </p:sp>
      <p:sp>
        <p:nvSpPr>
          <p:cNvPr id="3" name="Text 1"/>
          <p:cNvSpPr/>
          <p:nvPr/>
        </p:nvSpPr>
        <p:spPr>
          <a:xfrm>
            <a:off x="661475" y="1646337"/>
            <a:ext cx="6911306" cy="280491"/>
          </a:xfrm>
          <a:prstGeom prst="rect">
            <a:avLst/>
          </a:prstGeom>
          <a:noFill/>
          <a:ln/>
        </p:spPr>
        <p:txBody>
          <a:bodyPr wrap="none" lIns="0" tIns="0" rIns="0" bIns="0" rtlCol="0" anchor="t"/>
          <a:lstStyle/>
          <a:p>
            <a:pPr marL="0" indent="0" algn="l">
              <a:lnSpc>
                <a:spcPct val="104000"/>
              </a:lnSpc>
              <a:buNone/>
            </a:pPr>
            <a:endParaRPr lang="en-US" sz="1750" dirty="0"/>
          </a:p>
        </p:txBody>
      </p:sp>
      <p:sp>
        <p:nvSpPr>
          <p:cNvPr id="6" name="Text 4"/>
          <p:cNvSpPr/>
          <p:nvPr/>
        </p:nvSpPr>
        <p:spPr>
          <a:xfrm>
            <a:off x="661475" y="3559274"/>
            <a:ext cx="6911306" cy="1299270"/>
          </a:xfrm>
          <a:prstGeom prst="rect">
            <a:avLst/>
          </a:prstGeom>
          <a:noFill/>
          <a:ln/>
        </p:spPr>
        <p:txBody>
          <a:bodyPr wrap="square" lIns="0" tIns="0" rIns="0" bIns="0" rtlCol="0" anchor="t">
            <a:normAutofit/>
          </a:bodyPr>
          <a:lstStyle/>
          <a:p>
            <a:pPr algn="l">
              <a:lnSpc>
                <a:spcPct val="130000"/>
              </a:lnSpc>
              <a:buSzPct val="100000"/>
            </a:pPr>
            <a:endParaRPr lang="en-US" sz="1400" dirty="0"/>
          </a:p>
        </p:txBody>
      </p:sp>
      <p:sp>
        <p:nvSpPr>
          <p:cNvPr id="14" name="TextBox 13">
            <a:extLst>
              <a:ext uri="{FF2B5EF4-FFF2-40B4-BE49-F238E27FC236}">
                <a16:creationId xmlns:a16="http://schemas.microsoft.com/office/drawing/2014/main" id="{4A9F4B3D-20BE-E188-73AD-5B85E0360F01}"/>
              </a:ext>
            </a:extLst>
          </p:cNvPr>
          <p:cNvSpPr txBox="1"/>
          <p:nvPr/>
        </p:nvSpPr>
        <p:spPr>
          <a:xfrm>
            <a:off x="0" y="3361512"/>
            <a:ext cx="10781881" cy="3139321"/>
          </a:xfrm>
          <a:prstGeom prst="rect">
            <a:avLst/>
          </a:prstGeom>
          <a:noFill/>
        </p:spPr>
        <p:txBody>
          <a:bodyPr wrap="square" rtlCol="0">
            <a:spAutoFit/>
          </a:bodyPr>
          <a:lstStyle/>
          <a:p>
            <a:r>
              <a:rPr lang="en-IN" b="1" dirty="0"/>
              <a:t>Future Enhancements:</a:t>
            </a:r>
          </a:p>
          <a:p>
            <a:pPr lvl="0"/>
            <a:r>
              <a:rPr lang="en-IN" dirty="0"/>
              <a:t>📷 </a:t>
            </a:r>
            <a:r>
              <a:rPr lang="en-IN" b="1" dirty="0"/>
              <a:t>Live Smartphone Camera Integration</a:t>
            </a:r>
            <a:r>
              <a:rPr lang="en-IN" dirty="0"/>
              <a:t> for real-time PPG signal acquisition. </a:t>
            </a:r>
          </a:p>
          <a:p>
            <a:pPr lvl="0"/>
            <a:r>
              <a:rPr lang="en-IN" dirty="0"/>
              <a:t>⌚ </a:t>
            </a:r>
            <a:r>
              <a:rPr lang="en-IN" b="1" dirty="0"/>
              <a:t>Smartwatch &amp; Wearable Device Support</a:t>
            </a:r>
            <a:r>
              <a:rPr lang="en-IN" dirty="0"/>
              <a:t> for continuous health monitoring. </a:t>
            </a:r>
          </a:p>
          <a:p>
            <a:pPr lvl="0"/>
            <a:r>
              <a:rPr lang="en-IN" dirty="0"/>
              <a:t>🌐 </a:t>
            </a:r>
            <a:r>
              <a:rPr lang="en-IN" b="1" dirty="0"/>
              <a:t>Cloud-Based Patient Monitoring</a:t>
            </a:r>
            <a:r>
              <a:rPr lang="en-IN" dirty="0"/>
              <a:t> for remote healthcare and telemedicine. </a:t>
            </a:r>
          </a:p>
          <a:p>
            <a:pPr lvl="0"/>
            <a:r>
              <a:rPr lang="en-IN" dirty="0"/>
              <a:t>🤖 </a:t>
            </a:r>
            <a:r>
              <a:rPr lang="en-IN" b="1" dirty="0"/>
              <a:t>Advanced AI Models</a:t>
            </a:r>
            <a:r>
              <a:rPr lang="en-IN" dirty="0"/>
              <a:t> to improve prediction accuracy and robustness. </a:t>
            </a:r>
          </a:p>
          <a:p>
            <a:pPr lvl="0"/>
            <a:r>
              <a:rPr lang="en-IN" dirty="0"/>
              <a:t>🏥 </a:t>
            </a:r>
            <a:r>
              <a:rPr lang="en-IN" b="1" dirty="0"/>
              <a:t>Clinical Validation</a:t>
            </a:r>
            <a:r>
              <a:rPr lang="en-IN" dirty="0"/>
              <a:t> using larger and more diverse patient populations. </a:t>
            </a:r>
          </a:p>
          <a:p>
            <a:pPr lvl="0"/>
            <a:r>
              <a:rPr lang="en-IN" dirty="0"/>
              <a:t>📱 </a:t>
            </a:r>
            <a:r>
              <a:rPr lang="en-IN" b="1" dirty="0"/>
              <a:t>Mobile Application Development</a:t>
            </a:r>
            <a:r>
              <a:rPr lang="en-IN" dirty="0"/>
              <a:t> for anytime, anywhere monitoring. </a:t>
            </a:r>
          </a:p>
          <a:p>
            <a:pPr lvl="0"/>
            <a:r>
              <a:rPr lang="en-IN" dirty="0"/>
              <a:t>☁️ </a:t>
            </a:r>
            <a:r>
              <a:rPr lang="en-IN" b="1" dirty="0"/>
              <a:t>IoT Integration</a:t>
            </a:r>
            <a:r>
              <a:rPr lang="en-IN" dirty="0"/>
              <a:t> for smart hospitals and connected healthcare systems. </a:t>
            </a:r>
          </a:p>
          <a:p>
            <a:pPr lvl="0"/>
            <a:r>
              <a:rPr lang="en-IN" dirty="0"/>
              <a:t>⚡ </a:t>
            </a:r>
            <a:r>
              <a:rPr lang="en-IN" b="1" dirty="0"/>
              <a:t>Edge AI Deployment</a:t>
            </a:r>
            <a:r>
              <a:rPr lang="en-IN" dirty="0"/>
              <a:t> for fast, offline, and energy-efficient prediction. </a:t>
            </a:r>
          </a:p>
          <a:p>
            <a:pPr lvl="0"/>
            <a:r>
              <a:rPr lang="en-IN" dirty="0"/>
              <a:t>📊 </a:t>
            </a:r>
            <a:r>
              <a:rPr lang="en-IN" b="1" dirty="0"/>
              <a:t>Personal Health Dashboard</a:t>
            </a:r>
            <a:r>
              <a:rPr lang="en-IN" dirty="0"/>
              <a:t> for long-term BP trends and health analytics. </a:t>
            </a:r>
          </a:p>
          <a:p>
            <a:pPr lvl="0"/>
            <a:r>
              <a:rPr lang="en-IN" dirty="0"/>
              <a:t>🌍 </a:t>
            </a:r>
            <a:r>
              <a:rPr lang="en-IN" b="1" dirty="0"/>
              <a:t>Affordable Healthcare Solution</a:t>
            </a:r>
            <a:r>
              <a:rPr lang="en-IN" dirty="0"/>
              <a:t> for rural and underserved communities.</a:t>
            </a:r>
          </a:p>
        </p:txBody>
      </p:sp>
      <p:sp>
        <p:nvSpPr>
          <p:cNvPr id="20" name="TextBox 19">
            <a:extLst>
              <a:ext uri="{FF2B5EF4-FFF2-40B4-BE49-F238E27FC236}">
                <a16:creationId xmlns:a16="http://schemas.microsoft.com/office/drawing/2014/main" id="{30ED690E-6862-5314-2A31-2CEC6FE1C7BA}"/>
              </a:ext>
            </a:extLst>
          </p:cNvPr>
          <p:cNvSpPr txBox="1"/>
          <p:nvPr/>
        </p:nvSpPr>
        <p:spPr>
          <a:xfrm>
            <a:off x="0" y="1884184"/>
            <a:ext cx="12027877" cy="1477328"/>
          </a:xfrm>
          <a:prstGeom prst="rect">
            <a:avLst/>
          </a:prstGeom>
          <a:noFill/>
        </p:spPr>
        <p:txBody>
          <a:bodyPr wrap="square" rtlCol="0">
            <a:spAutoFit/>
          </a:bodyPr>
          <a:lstStyle/>
          <a:p>
            <a:r>
              <a:rPr lang="en-IN"/>
              <a:t>This project successfully demonstrates an </a:t>
            </a:r>
            <a:r>
              <a:rPr lang="en-IN" b="1"/>
              <a:t>AI-powered, cuffless blood pressure estimation system</a:t>
            </a:r>
            <a:r>
              <a:rPr lang="en-IN"/>
              <a:t> using Photoplethysmography (PPG) signals and a </a:t>
            </a:r>
            <a:r>
              <a:rPr lang="en-IN" b="1"/>
              <a:t>Vision Transformer (ViT)</a:t>
            </a:r>
            <a:r>
              <a:rPr lang="en-IN"/>
              <a:t>. By transforming PPG signals into scalogram images through Continuous Wavelet Transform (CWT), the proposed system accurately predicts systolic and diastolic blood pressure without the need for a conventional cuff. The results highlight the potential of deep learning to provide a </a:t>
            </a:r>
            <a:r>
              <a:rPr lang="en-IN" b="1"/>
              <a:t>non-invasive, continuous, and patient-friendly solution</a:t>
            </a:r>
            <a:r>
              <a:rPr lang="en-IN"/>
              <a:t> for cardiovascular monitoring, paving the way for the next generation of intelligent healthcare systems.</a:t>
            </a:r>
            <a:endParaRPr lang="en-IN" dirty="0"/>
          </a:p>
        </p:txBody>
      </p:sp>
    </p:spTree>
  </p:cSld>
  <p:clrMapOvr>
    <a:masterClrMapping/>
  </p:clrMapOvr>
</p:sld>
</file>

<file path=ppt/theme/theme1.xml><?xml version="1.0" encoding="utf-8"?>
<a:theme xmlns:a="http://schemas.openxmlformats.org/drawingml/2006/main" name="Archway">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979</TotalTime>
  <Words>853</Words>
  <Application>Microsoft Office PowerPoint</Application>
  <PresentationFormat>Widescreen</PresentationFormat>
  <Paragraphs>100</Paragraphs>
  <Slides>15</Slides>
  <Notes>7</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15</vt:i4>
      </vt:variant>
    </vt:vector>
  </HeadingPairs>
  <TitlesOfParts>
    <vt:vector size="27" baseType="lpstr">
      <vt:lpstr>Palatino Linotype</vt:lpstr>
      <vt:lpstr>Wingdings</vt:lpstr>
      <vt:lpstr>Aptos</vt:lpstr>
      <vt:lpstr>Felix Titling</vt:lpstr>
      <vt:lpstr>Roboto</vt:lpstr>
      <vt:lpstr>Arial</vt:lpstr>
      <vt:lpstr>Raleway</vt:lpstr>
      <vt:lpstr>Goudy Old Style</vt:lpstr>
      <vt:lpstr>Aptos Narrow</vt:lpstr>
      <vt:lpstr>Aptos Display</vt:lpstr>
      <vt:lpstr>Archway</vt:lpstr>
      <vt:lpstr>Custom Design</vt:lpstr>
      <vt:lpstr>AI-Based Cuffless Blood Pressure Estimation Using Vision Transformer</vt:lpstr>
      <vt:lpstr>PowerPoint Presentation</vt:lpstr>
      <vt:lpstr>PowerPoint Presentation</vt:lpstr>
      <vt:lpstr>PowerPoint Presentation</vt:lpstr>
      <vt:lpstr>PowerPoint Presentation</vt:lpstr>
      <vt:lpstr>PPG SIGNALS:</vt:lpstr>
      <vt:lpstr>PowerPoint Presentation</vt:lpstr>
      <vt:lpstr>VISION TRANSFORMERS ARCHITECTURE:</vt:lpstr>
      <vt:lpstr>Live Webcam-Based Finger Detection</vt:lpstr>
      <vt:lpstr>PowerPoint Presentation</vt:lpstr>
      <vt:lpstr>DASHBOARD: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dc:creator>
  <cp:lastModifiedBy>ishapal311@gmail.com</cp:lastModifiedBy>
  <cp:revision>14</cp:revision>
  <dcterms:created xsi:type="dcterms:W3CDTF">2026-08-06T16:36:27Z</dcterms:created>
  <dcterms:modified xsi:type="dcterms:W3CDTF">2026-08-08T05:28:52Z</dcterms:modified>
</cp:coreProperties>
</file>